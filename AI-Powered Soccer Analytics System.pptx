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Helvetica Neue"/>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HelveticaNeue-bold.fntdata"/><Relationship Id="rId11" Type="http://schemas.openxmlformats.org/officeDocument/2006/relationships/slide" Target="slides/slide5.xml"/><Relationship Id="rId22" Type="http://schemas.openxmlformats.org/officeDocument/2006/relationships/font" Target="fonts/HelveticaNeue-boldItalic.fntdata"/><Relationship Id="rId10" Type="http://schemas.openxmlformats.org/officeDocument/2006/relationships/slide" Target="slides/slide4.xml"/><Relationship Id="rId21" Type="http://schemas.openxmlformats.org/officeDocument/2006/relationships/font" Target="fonts/HelveticaNeue-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font" Target="fonts/HelveticaNeue-regular.fnt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5a4fa6de5a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5a4fa6de5a_2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5a4fa6de5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g35a4fa6de5a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5a4fa6de5a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g35a4fa6de5a_0_1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5a4fa6de5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g35a4fa6de5a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5a4fa6de5a_2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g35a4fa6de5a_2_1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5a4fa6de5a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g35a4fa6de5a_0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5a4fa6de5a_2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g35a4fa6de5a_2_2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5a4fa6de5a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g35a4fa6de5a_0_1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5a4fa6de5a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g35a4fa6de5a_0_1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5a4fa6de5a_2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g35a4fa6de5a_2_2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5a4fa6de5a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g35a4fa6de5a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5a4fa6de5a_2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g35a4fa6de5a_2_30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 name="Google Shape;58;p1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1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2" name="Google Shape;62;p15"/>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4" name="Google Shape;64;p1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5" name="Google Shape;65;p1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8" name="Google Shape;68;p16"/>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69" name="Google Shape;69;p1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0" name="Google Shape;70;p1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1" name="Google Shape;71;p1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spcBef>
                <a:spcPts val="0"/>
              </a:spcBef>
              <a:spcAft>
                <a:spcPts val="0"/>
              </a:spcAft>
              <a:buClr>
                <a:schemeClr val="dk1"/>
              </a:buClr>
              <a:buSzPts val="2000"/>
              <a:buFont typeface="Calibri"/>
              <a:buNone/>
              <a:defRPr b="1" sz="2000"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4" name="Google Shape;74;p17"/>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rgbClr val="888888"/>
              </a:buClr>
              <a:buSzPts val="1000"/>
              <a:buNone/>
              <a:defRPr sz="1000">
                <a:solidFill>
                  <a:srgbClr val="888888"/>
                </a:solidFill>
              </a:defRPr>
            </a:lvl1pPr>
            <a:lvl2pPr indent="-228600" lvl="1" marL="914400" algn="l">
              <a:spcBef>
                <a:spcPts val="200"/>
              </a:spcBef>
              <a:spcAft>
                <a:spcPts val="0"/>
              </a:spcAft>
              <a:buClr>
                <a:srgbClr val="888888"/>
              </a:buClr>
              <a:buSzPts val="900"/>
              <a:buNone/>
              <a:defRPr sz="900">
                <a:solidFill>
                  <a:srgbClr val="888888"/>
                </a:solidFill>
              </a:defRPr>
            </a:lvl2pPr>
            <a:lvl3pPr indent="-228600" lvl="2" marL="1371600" algn="l">
              <a:spcBef>
                <a:spcPts val="200"/>
              </a:spcBef>
              <a:spcAft>
                <a:spcPts val="0"/>
              </a:spcAft>
              <a:buClr>
                <a:srgbClr val="888888"/>
              </a:buClr>
              <a:buSzPts val="800"/>
              <a:buNone/>
              <a:defRPr sz="800">
                <a:solidFill>
                  <a:srgbClr val="888888"/>
                </a:solidFill>
              </a:defRPr>
            </a:lvl3pPr>
            <a:lvl4pPr indent="-228600" lvl="3" marL="1828800" algn="l">
              <a:spcBef>
                <a:spcPts val="100"/>
              </a:spcBef>
              <a:spcAft>
                <a:spcPts val="0"/>
              </a:spcAft>
              <a:buClr>
                <a:srgbClr val="888888"/>
              </a:buClr>
              <a:buSzPts val="700"/>
              <a:buNone/>
              <a:defRPr sz="700">
                <a:solidFill>
                  <a:srgbClr val="888888"/>
                </a:solidFill>
              </a:defRPr>
            </a:lvl4pPr>
            <a:lvl5pPr indent="-228600" lvl="4" marL="2286000" algn="l">
              <a:spcBef>
                <a:spcPts val="100"/>
              </a:spcBef>
              <a:spcAft>
                <a:spcPts val="0"/>
              </a:spcAft>
              <a:buClr>
                <a:srgbClr val="888888"/>
              </a:buClr>
              <a:buSzPts val="700"/>
              <a:buNone/>
              <a:defRPr sz="700">
                <a:solidFill>
                  <a:srgbClr val="888888"/>
                </a:solidFill>
              </a:defRPr>
            </a:lvl5pPr>
            <a:lvl6pPr indent="-228600" lvl="5" marL="2743200" algn="l">
              <a:spcBef>
                <a:spcPts val="100"/>
              </a:spcBef>
              <a:spcAft>
                <a:spcPts val="0"/>
              </a:spcAft>
              <a:buClr>
                <a:srgbClr val="888888"/>
              </a:buClr>
              <a:buSzPts val="700"/>
              <a:buNone/>
              <a:defRPr sz="700">
                <a:solidFill>
                  <a:srgbClr val="888888"/>
                </a:solidFill>
              </a:defRPr>
            </a:lvl6pPr>
            <a:lvl7pPr indent="-228600" lvl="6" marL="3200400" algn="l">
              <a:spcBef>
                <a:spcPts val="100"/>
              </a:spcBef>
              <a:spcAft>
                <a:spcPts val="0"/>
              </a:spcAft>
              <a:buClr>
                <a:srgbClr val="888888"/>
              </a:buClr>
              <a:buSzPts val="700"/>
              <a:buNone/>
              <a:defRPr sz="700">
                <a:solidFill>
                  <a:srgbClr val="888888"/>
                </a:solidFill>
              </a:defRPr>
            </a:lvl7pPr>
            <a:lvl8pPr indent="-228600" lvl="7" marL="3657600" algn="l">
              <a:spcBef>
                <a:spcPts val="100"/>
              </a:spcBef>
              <a:spcAft>
                <a:spcPts val="0"/>
              </a:spcAft>
              <a:buClr>
                <a:srgbClr val="888888"/>
              </a:buClr>
              <a:buSzPts val="700"/>
              <a:buNone/>
              <a:defRPr sz="700">
                <a:solidFill>
                  <a:srgbClr val="888888"/>
                </a:solidFill>
              </a:defRPr>
            </a:lvl8pPr>
            <a:lvl9pPr indent="-228600" lvl="8" marL="4114800" algn="l">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6" name="Google Shape;76;p1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7" name="Google Shape;77;p1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0" name="Google Shape;80;p18"/>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1" name="Google Shape;81;p18"/>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2" name="Google Shape;82;p1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 name="Google Shape;83;p1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 name="Google Shape;84;p1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7" name="Google Shape;87;p19"/>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88" name="Google Shape;88;p19"/>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89" name="Google Shape;89;p19"/>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90" name="Google Shape;90;p19"/>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91" name="Google Shape;91;p1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2" name="Google Shape;92;p1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3" name="Google Shape;93;p1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6" name="Google Shape;96;p2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7" name="Google Shape;97;p2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8" name="Google Shape;98;p2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1" name="Google Shape;101;p21"/>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spcBef>
                <a:spcPts val="300"/>
              </a:spcBef>
              <a:spcAft>
                <a:spcPts val="0"/>
              </a:spcAft>
              <a:buClr>
                <a:schemeClr val="dk1"/>
              </a:buClr>
              <a:buSzPts val="1600"/>
              <a:buChar char="•"/>
              <a:defRPr sz="1600"/>
            </a:lvl1pPr>
            <a:lvl2pPr indent="-317500" lvl="1" marL="914400" algn="l">
              <a:spcBef>
                <a:spcPts val="300"/>
              </a:spcBef>
              <a:spcAft>
                <a:spcPts val="0"/>
              </a:spcAft>
              <a:buClr>
                <a:schemeClr val="dk1"/>
              </a:buClr>
              <a:buSzPts val="1400"/>
              <a:buChar char="–"/>
              <a:defRPr sz="1400"/>
            </a:lvl2pPr>
            <a:lvl3pPr indent="-304800" lvl="2" marL="1371600" algn="l">
              <a:spcBef>
                <a:spcPts val="200"/>
              </a:spcBef>
              <a:spcAft>
                <a:spcPts val="0"/>
              </a:spcAft>
              <a:buClr>
                <a:schemeClr val="dk1"/>
              </a:buClr>
              <a:buSzPts val="1200"/>
              <a:buChar char="•"/>
              <a:defRPr sz="1200"/>
            </a:lvl3pPr>
            <a:lvl4pPr indent="-292100" lvl="3" marL="1828800" algn="l">
              <a:spcBef>
                <a:spcPts val="200"/>
              </a:spcBef>
              <a:spcAft>
                <a:spcPts val="0"/>
              </a:spcAft>
              <a:buClr>
                <a:schemeClr val="dk1"/>
              </a:buClr>
              <a:buSzPts val="1000"/>
              <a:buChar char="–"/>
              <a:defRPr sz="1000"/>
            </a:lvl4pPr>
            <a:lvl5pPr indent="-292100" lvl="4" marL="2286000" algn="l">
              <a:spcBef>
                <a:spcPts val="200"/>
              </a:spcBef>
              <a:spcAft>
                <a:spcPts val="0"/>
              </a:spcAft>
              <a:buClr>
                <a:schemeClr val="dk1"/>
              </a:buClr>
              <a:buSzPts val="1000"/>
              <a:buChar char="»"/>
              <a:defRPr sz="1000"/>
            </a:lvl5pPr>
            <a:lvl6pPr indent="-292100" lvl="5" marL="2743200" algn="l">
              <a:spcBef>
                <a:spcPts val="200"/>
              </a:spcBef>
              <a:spcAft>
                <a:spcPts val="0"/>
              </a:spcAft>
              <a:buClr>
                <a:schemeClr val="dk1"/>
              </a:buClr>
              <a:buSzPts val="1000"/>
              <a:buChar char="•"/>
              <a:defRPr sz="1000"/>
            </a:lvl6pPr>
            <a:lvl7pPr indent="-292100" lvl="6" marL="3200400" algn="l">
              <a:spcBef>
                <a:spcPts val="200"/>
              </a:spcBef>
              <a:spcAft>
                <a:spcPts val="0"/>
              </a:spcAft>
              <a:buClr>
                <a:schemeClr val="dk1"/>
              </a:buClr>
              <a:buSzPts val="1000"/>
              <a:buChar char="•"/>
              <a:defRPr sz="1000"/>
            </a:lvl7pPr>
            <a:lvl8pPr indent="-292100" lvl="7" marL="3657600" algn="l">
              <a:spcBef>
                <a:spcPts val="200"/>
              </a:spcBef>
              <a:spcAft>
                <a:spcPts val="0"/>
              </a:spcAft>
              <a:buClr>
                <a:schemeClr val="dk1"/>
              </a:buClr>
              <a:buSzPts val="1000"/>
              <a:buChar char="•"/>
              <a:defRPr sz="1000"/>
            </a:lvl8pPr>
            <a:lvl9pPr indent="-292100" lvl="8" marL="4114800" algn="l">
              <a:spcBef>
                <a:spcPts val="200"/>
              </a:spcBef>
              <a:spcAft>
                <a:spcPts val="0"/>
              </a:spcAft>
              <a:buClr>
                <a:schemeClr val="dk1"/>
              </a:buClr>
              <a:buSzPts val="1000"/>
              <a:buChar char="•"/>
              <a:defRPr sz="1000"/>
            </a:lvl9pPr>
          </a:lstStyle>
          <a:p/>
        </p:txBody>
      </p:sp>
      <p:sp>
        <p:nvSpPr>
          <p:cNvPr id="102" name="Google Shape;102;p21"/>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03" name="Google Shape;103;p2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4" name="Google Shape;104;p2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5" name="Google Shape;105;p2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8" name="Google Shape;108;p22"/>
          <p:cNvSpPr/>
          <p:nvPr>
            <p:ph idx="2" type="pic"/>
          </p:nvPr>
        </p:nvSpPr>
        <p:spPr>
          <a:xfrm>
            <a:off x="896144" y="306388"/>
            <a:ext cx="2743200" cy="2057400"/>
          </a:xfrm>
          <a:prstGeom prst="rect">
            <a:avLst/>
          </a:prstGeom>
          <a:noFill/>
          <a:ln>
            <a:noFill/>
          </a:ln>
        </p:spPr>
      </p:sp>
      <p:sp>
        <p:nvSpPr>
          <p:cNvPr id="109" name="Google Shape;109;p22"/>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10" name="Google Shape;110;p2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1" name="Google Shape;111;p2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2" name="Google Shape;112;p2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5" name="Google Shape;115;p23"/>
          <p:cNvSpPr txBox="1"/>
          <p:nvPr>
            <p:ph idx="1" type="body"/>
          </p:nvPr>
        </p:nvSpPr>
        <p:spPr>
          <a:xfrm rot="5400000">
            <a:off x="1154509" y="-125809"/>
            <a:ext cx="2262982" cy="41148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16" name="Google Shape;116;p2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7" name="Google Shape;117;p2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8" name="Google Shape;118;p2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69" y="1085850"/>
            <a:ext cx="2925763" cy="10287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1" name="Google Shape;121;p24"/>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22" name="Google Shape;122;p2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 name="Google Shape;123;p2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 name="Google Shape;124;p2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2" name="Google Shape;52;p13"/>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spcBef>
                <a:spcPts val="0"/>
              </a:spcBef>
              <a:buNone/>
              <a:defRPr b="0" i="0" sz="600" u="none" cap="none" strike="noStrike">
                <a:solidFill>
                  <a:srgbClr val="888888"/>
                </a:solidFill>
                <a:latin typeface="Calibri"/>
                <a:ea typeface="Calibri"/>
                <a:cs typeface="Calibri"/>
                <a:sym typeface="Calibri"/>
              </a:defRPr>
            </a:lvl1pPr>
            <a:lvl2pPr indent="0" lvl="1" marL="0" marR="0" rtl="0" algn="r">
              <a:spcBef>
                <a:spcPts val="0"/>
              </a:spcBef>
              <a:buNone/>
              <a:defRPr b="0" i="0" sz="600" u="none" cap="none" strike="noStrike">
                <a:solidFill>
                  <a:srgbClr val="888888"/>
                </a:solidFill>
                <a:latin typeface="Calibri"/>
                <a:ea typeface="Calibri"/>
                <a:cs typeface="Calibri"/>
                <a:sym typeface="Calibri"/>
              </a:defRPr>
            </a:lvl2pPr>
            <a:lvl3pPr indent="0" lvl="2" marL="0" marR="0" rtl="0" algn="r">
              <a:spcBef>
                <a:spcPts val="0"/>
              </a:spcBef>
              <a:buNone/>
              <a:defRPr b="0" i="0" sz="600" u="none" cap="none" strike="noStrike">
                <a:solidFill>
                  <a:srgbClr val="888888"/>
                </a:solidFill>
                <a:latin typeface="Calibri"/>
                <a:ea typeface="Calibri"/>
                <a:cs typeface="Calibri"/>
                <a:sym typeface="Calibri"/>
              </a:defRPr>
            </a:lvl3pPr>
            <a:lvl4pPr indent="0" lvl="3" marL="0" marR="0" rtl="0" algn="r">
              <a:spcBef>
                <a:spcPts val="0"/>
              </a:spcBef>
              <a:buNone/>
              <a:defRPr b="0" i="0" sz="600" u="none" cap="none" strike="noStrike">
                <a:solidFill>
                  <a:srgbClr val="888888"/>
                </a:solidFill>
                <a:latin typeface="Calibri"/>
                <a:ea typeface="Calibri"/>
                <a:cs typeface="Calibri"/>
                <a:sym typeface="Calibri"/>
              </a:defRPr>
            </a:lvl4pPr>
            <a:lvl5pPr indent="0" lvl="4" marL="0" marR="0" rtl="0" algn="r">
              <a:spcBef>
                <a:spcPts val="0"/>
              </a:spcBef>
              <a:buNone/>
              <a:defRPr b="0" i="0" sz="600" u="none" cap="none" strike="noStrike">
                <a:solidFill>
                  <a:srgbClr val="888888"/>
                </a:solidFill>
                <a:latin typeface="Calibri"/>
                <a:ea typeface="Calibri"/>
                <a:cs typeface="Calibri"/>
                <a:sym typeface="Calibri"/>
              </a:defRPr>
            </a:lvl5pPr>
            <a:lvl6pPr indent="0" lvl="5" marL="0" marR="0" rtl="0" algn="r">
              <a:spcBef>
                <a:spcPts val="0"/>
              </a:spcBef>
              <a:buNone/>
              <a:defRPr b="0" i="0" sz="600" u="none" cap="none" strike="noStrike">
                <a:solidFill>
                  <a:srgbClr val="888888"/>
                </a:solidFill>
                <a:latin typeface="Calibri"/>
                <a:ea typeface="Calibri"/>
                <a:cs typeface="Calibri"/>
                <a:sym typeface="Calibri"/>
              </a:defRPr>
            </a:lvl6pPr>
            <a:lvl7pPr indent="0" lvl="6" marL="0" marR="0" rtl="0" algn="r">
              <a:spcBef>
                <a:spcPts val="0"/>
              </a:spcBef>
              <a:buNone/>
              <a:defRPr b="0" i="0" sz="600" u="none" cap="none" strike="noStrike">
                <a:solidFill>
                  <a:srgbClr val="888888"/>
                </a:solidFill>
                <a:latin typeface="Calibri"/>
                <a:ea typeface="Calibri"/>
                <a:cs typeface="Calibri"/>
                <a:sym typeface="Calibri"/>
              </a:defRPr>
            </a:lvl7pPr>
            <a:lvl8pPr indent="0" lvl="7" marL="0" marR="0" rtl="0" algn="r">
              <a:spcBef>
                <a:spcPts val="0"/>
              </a:spcBef>
              <a:buNone/>
              <a:defRPr b="0" i="0" sz="600" u="none" cap="none" strike="noStrike">
                <a:solidFill>
                  <a:srgbClr val="888888"/>
                </a:solidFill>
                <a:latin typeface="Calibri"/>
                <a:ea typeface="Calibri"/>
                <a:cs typeface="Calibri"/>
                <a:sym typeface="Calibri"/>
              </a:defRPr>
            </a:lvl8pPr>
            <a:lvl9pPr indent="0" lvl="8" marL="0" marR="0" rtl="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9.jp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1.jp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1.jp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7.png"/><Relationship Id="rId7"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1.jp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7.png"/><Relationship Id="rId7"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1.jpg"/><Relationship Id="rId4" Type="http://schemas.openxmlformats.org/officeDocument/2006/relationships/image" Target="../media/image3.png"/><Relationship Id="rId5" Type="http://schemas.openxmlformats.org/officeDocument/2006/relationships/image" Target="../media/image5.jpg"/><Relationship Id="rId6"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1.jp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1.jp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7.png"/><Relationship Id="rId7"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1.jp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image" Target="../media/image19.png"/><Relationship Id="rId7"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1.jpg"/><Relationship Id="rId4" Type="http://schemas.openxmlformats.org/officeDocument/2006/relationships/image" Target="../media/image8.png"/><Relationship Id="rId5" Type="http://schemas.openxmlformats.org/officeDocument/2006/relationships/image" Target="../media/image15.png"/><Relationship Id="rId6"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1.jp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1.jp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1.jp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12.jpg"/><Relationship Id="rId7" Type="http://schemas.openxmlformats.org/officeDocument/2006/relationships/hyperlink" Target="https://github.com/Trolom/football-field-analytics" TargetMode="External"/><Relationship Id="rId8" Type="http://schemas.openxmlformats.org/officeDocument/2006/relationships/hyperlink" Target="https://drive.google.com/file/d/1zxooXx3Re91XmcZG8jX2Lj1h7Mkua077/view?usp=shar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6663" l="0" r="0" t="-16664"/>
            </a:stretch>
          </a:blipFill>
          <a:ln>
            <a:noFill/>
          </a:ln>
        </p:spPr>
      </p:sp>
      <p:sp>
        <p:nvSpPr>
          <p:cNvPr id="130" name="Google Shape;130;p25"/>
          <p:cNvSpPr txBox="1"/>
          <p:nvPr/>
        </p:nvSpPr>
        <p:spPr>
          <a:xfrm>
            <a:off x="995565" y="1782594"/>
            <a:ext cx="7348200" cy="15147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Clr>
                <a:srgbClr val="000000"/>
              </a:buClr>
              <a:buFont typeface="Arial"/>
              <a:buNone/>
            </a:pPr>
            <a:r>
              <a:rPr lang="en-GB" sz="4100">
                <a:solidFill>
                  <a:srgbClr val="FFFFFF"/>
                </a:solidFill>
              </a:rPr>
              <a:t>AI-POWERED FOOTBALL ANALYTICS SYSTEM</a:t>
            </a:r>
            <a:endParaRPr sz="4100"/>
          </a:p>
        </p:txBody>
      </p:sp>
      <p:cxnSp>
        <p:nvCxnSpPr>
          <p:cNvPr id="131" name="Google Shape;131;p25"/>
          <p:cNvCxnSpPr/>
          <p:nvPr/>
        </p:nvCxnSpPr>
        <p:spPr>
          <a:xfrm>
            <a:off x="995585" y="4626769"/>
            <a:ext cx="7152830" cy="0"/>
          </a:xfrm>
          <a:prstGeom prst="straightConnector1">
            <a:avLst/>
          </a:prstGeom>
          <a:noFill/>
          <a:ln cap="flat" cmpd="sng" w="9525">
            <a:solidFill>
              <a:srgbClr val="FFFFFF"/>
            </a:solidFill>
            <a:prstDash val="solid"/>
            <a:round/>
            <a:headEnd len="sm" w="sm" type="none"/>
            <a:tailEnd len="sm" w="sm" type="none"/>
          </a:ln>
        </p:spPr>
      </p:cxnSp>
      <p:sp>
        <p:nvSpPr>
          <p:cNvPr id="132" name="Google Shape;132;p25"/>
          <p:cNvSpPr/>
          <p:nvPr/>
        </p:nvSpPr>
        <p:spPr>
          <a:xfrm>
            <a:off x="995585" y="4427210"/>
            <a:ext cx="961226" cy="115050"/>
          </a:xfrm>
          <a:custGeom>
            <a:rect b="b" l="l" r="r" t="t"/>
            <a:pathLst>
              <a:path extrusionOk="0" h="230101" w="1922453">
                <a:moveTo>
                  <a:pt x="0" y="0"/>
                </a:moveTo>
                <a:lnTo>
                  <a:pt x="1922453" y="0"/>
                </a:lnTo>
                <a:lnTo>
                  <a:pt x="1922453" y="230101"/>
                </a:lnTo>
                <a:lnTo>
                  <a:pt x="0" y="230101"/>
                </a:lnTo>
                <a:lnTo>
                  <a:pt x="0" y="0"/>
                </a:lnTo>
                <a:close/>
              </a:path>
            </a:pathLst>
          </a:custGeom>
          <a:blipFill rotWithShape="1">
            <a:blip r:embed="rId4">
              <a:alphaModFix/>
            </a:blip>
            <a:stretch>
              <a:fillRect b="0" l="0" r="0" t="0"/>
            </a:stretch>
          </a:blipFill>
          <a:ln>
            <a:noFill/>
          </a:ln>
        </p:spPr>
      </p:sp>
      <p:sp>
        <p:nvSpPr>
          <p:cNvPr id="133" name="Google Shape;133;p25"/>
          <p:cNvSpPr/>
          <p:nvPr/>
        </p:nvSpPr>
        <p:spPr>
          <a:xfrm flipH="1">
            <a:off x="7187188" y="4427210"/>
            <a:ext cx="961227" cy="115050"/>
          </a:xfrm>
          <a:custGeom>
            <a:rect b="b" l="l" r="r" t="t"/>
            <a:pathLst>
              <a:path extrusionOk="0" h="230101" w="1922453">
                <a:moveTo>
                  <a:pt x="1922453" y="0"/>
                </a:moveTo>
                <a:lnTo>
                  <a:pt x="0" y="0"/>
                </a:lnTo>
                <a:lnTo>
                  <a:pt x="0" y="230101"/>
                </a:lnTo>
                <a:lnTo>
                  <a:pt x="1922453" y="230101"/>
                </a:lnTo>
                <a:lnTo>
                  <a:pt x="1922453" y="0"/>
                </a:lnTo>
                <a:close/>
              </a:path>
            </a:pathLst>
          </a:custGeom>
          <a:blipFill rotWithShape="1">
            <a:blip r:embed="rId4">
              <a:alphaModFix/>
            </a:blip>
            <a:stretch>
              <a:fillRect b="0" l="0" r="0" t="0"/>
            </a:stretch>
          </a:blipFill>
          <a:ln>
            <a:noFill/>
          </a:ln>
        </p:spPr>
      </p:sp>
      <p:sp>
        <p:nvSpPr>
          <p:cNvPr id="134" name="Google Shape;134;p25"/>
          <p:cNvSpPr txBox="1"/>
          <p:nvPr/>
        </p:nvSpPr>
        <p:spPr>
          <a:xfrm>
            <a:off x="887400" y="3663675"/>
            <a:ext cx="3684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lt1"/>
                </a:solidFill>
              </a:rPr>
              <a:t>Rascanu Dragos</a:t>
            </a:r>
            <a:endParaRPr sz="1800">
              <a:solidFill>
                <a:schemeClr val="lt1"/>
              </a:solidFill>
            </a:endParaRPr>
          </a:p>
          <a:p>
            <a:pPr indent="0" lvl="0" marL="0" rtl="0" algn="l">
              <a:spcBef>
                <a:spcPts val="0"/>
              </a:spcBef>
              <a:spcAft>
                <a:spcPts val="0"/>
              </a:spcAft>
              <a:buNone/>
            </a:pPr>
            <a:r>
              <a:rPr lang="en-GB" sz="1800">
                <a:solidFill>
                  <a:schemeClr val="lt1"/>
                </a:solidFill>
              </a:rPr>
              <a:t>International Student</a:t>
            </a:r>
            <a:endParaRPr sz="18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cxnSp>
        <p:nvCxnSpPr>
          <p:cNvPr id="140" name="Google Shape;140;p26"/>
          <p:cNvCxnSpPr/>
          <p:nvPr/>
        </p:nvCxnSpPr>
        <p:spPr>
          <a:xfrm>
            <a:off x="-29225" y="1443419"/>
            <a:ext cx="9144000" cy="0"/>
          </a:xfrm>
          <a:prstGeom prst="straightConnector1">
            <a:avLst/>
          </a:prstGeom>
          <a:noFill/>
          <a:ln cap="flat" cmpd="sng" w="9525">
            <a:solidFill>
              <a:srgbClr val="FFFFFF"/>
            </a:solidFill>
            <a:prstDash val="solid"/>
            <a:round/>
            <a:headEnd len="sm" w="sm" type="none"/>
            <a:tailEnd len="sm" w="sm" type="none"/>
          </a:ln>
        </p:spPr>
      </p:cxnSp>
      <p:grpSp>
        <p:nvGrpSpPr>
          <p:cNvPr id="141" name="Google Shape;141;p26"/>
          <p:cNvGrpSpPr/>
          <p:nvPr/>
        </p:nvGrpSpPr>
        <p:grpSpPr>
          <a:xfrm>
            <a:off x="5443050" y="-836025"/>
            <a:ext cx="4665309" cy="4139021"/>
            <a:chOff x="0" y="0"/>
            <a:chExt cx="812800" cy="812800"/>
          </a:xfrm>
        </p:grpSpPr>
        <p:sp>
          <p:nvSpPr>
            <p:cNvPr id="142" name="Google Shape;142;p2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
              <a:solidFill>
                <a:srgbClr val="FFFFFF"/>
              </a:solidFill>
              <a:prstDash val="solid"/>
              <a:miter lim="8000"/>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43" name="Google Shape;143;p26"/>
            <p:cNvSpPr txBox="1"/>
            <p:nvPr/>
          </p:nvSpPr>
          <p:spPr>
            <a:xfrm>
              <a:off x="76200" y="57150"/>
              <a:ext cx="660300" cy="679500"/>
            </a:xfrm>
            <a:prstGeom prst="rect">
              <a:avLst/>
            </a:prstGeom>
            <a:noFill/>
            <a:ln>
              <a:noFill/>
            </a:ln>
          </p:spPr>
          <p:txBody>
            <a:bodyPr anchorCtr="0" anchor="ctr" bIns="25400" lIns="25400" spcFirstLastPara="1" rIns="25400" wrap="square" tIns="25400">
              <a:noAutofit/>
            </a:bodyPr>
            <a:lstStyle/>
            <a:p>
              <a:pPr indent="0" lvl="0" marL="0" marR="0" rtl="0" algn="ctr">
                <a:lnSpc>
                  <a:spcPct val="1011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44" name="Google Shape;144;p26"/>
          <p:cNvSpPr/>
          <p:nvPr/>
        </p:nvSpPr>
        <p:spPr>
          <a:xfrm>
            <a:off x="8211918" y="4211418"/>
            <a:ext cx="417732" cy="417732"/>
          </a:xfrm>
          <a:custGeom>
            <a:rect b="b" l="l" r="r" t="t"/>
            <a:pathLst>
              <a:path extrusionOk="0" h="835464" w="835464">
                <a:moveTo>
                  <a:pt x="0" y="0"/>
                </a:moveTo>
                <a:lnTo>
                  <a:pt x="835464" y="0"/>
                </a:lnTo>
                <a:lnTo>
                  <a:pt x="835464" y="835464"/>
                </a:lnTo>
                <a:lnTo>
                  <a:pt x="0" y="835464"/>
                </a:lnTo>
                <a:lnTo>
                  <a:pt x="0" y="0"/>
                </a:lnTo>
                <a:close/>
              </a:path>
            </a:pathLst>
          </a:custGeom>
          <a:blipFill rotWithShape="1">
            <a:blip r:embed="rId4">
              <a:alphaModFix/>
            </a:blip>
            <a:stretch>
              <a:fillRect b="0" l="0" r="0" t="0"/>
            </a:stretch>
          </a:blipFill>
          <a:ln>
            <a:noFill/>
          </a:ln>
        </p:spPr>
      </p:sp>
      <p:sp>
        <p:nvSpPr>
          <p:cNvPr id="145" name="Google Shape;145;p26"/>
          <p:cNvSpPr/>
          <p:nvPr/>
        </p:nvSpPr>
        <p:spPr>
          <a:xfrm flipH="1">
            <a:off x="6979567" y="4514100"/>
            <a:ext cx="961227" cy="115050"/>
          </a:xfrm>
          <a:custGeom>
            <a:rect b="b" l="l" r="r" t="t"/>
            <a:pathLst>
              <a:path extrusionOk="0" h="230101" w="1922453">
                <a:moveTo>
                  <a:pt x="1922453" y="0"/>
                </a:moveTo>
                <a:lnTo>
                  <a:pt x="0" y="0"/>
                </a:lnTo>
                <a:lnTo>
                  <a:pt x="0" y="230101"/>
                </a:lnTo>
                <a:lnTo>
                  <a:pt x="1922453" y="230101"/>
                </a:lnTo>
                <a:lnTo>
                  <a:pt x="1922453" y="0"/>
                </a:lnTo>
                <a:close/>
              </a:path>
            </a:pathLst>
          </a:custGeom>
          <a:blipFill rotWithShape="1">
            <a:blip r:embed="rId5">
              <a:alphaModFix/>
            </a:blip>
            <a:stretch>
              <a:fillRect b="0" l="0" r="0" t="0"/>
            </a:stretch>
          </a:blipFill>
          <a:ln>
            <a:noFill/>
          </a:ln>
        </p:spPr>
      </p:sp>
      <p:sp>
        <p:nvSpPr>
          <p:cNvPr id="146" name="Google Shape;146;p26"/>
          <p:cNvSpPr txBox="1"/>
          <p:nvPr/>
        </p:nvSpPr>
        <p:spPr>
          <a:xfrm>
            <a:off x="514350" y="1443432"/>
            <a:ext cx="4885800" cy="549000"/>
          </a:xfrm>
          <a:prstGeom prst="rect">
            <a:avLst/>
          </a:prstGeom>
          <a:noFill/>
          <a:ln>
            <a:noFill/>
          </a:ln>
        </p:spPr>
        <p:txBody>
          <a:bodyPr anchorCtr="0" anchor="t" bIns="0" lIns="0" spcFirstLastPara="1" rIns="0" wrap="square" tIns="0">
            <a:spAutoFit/>
          </a:bodyPr>
          <a:lstStyle/>
          <a:p>
            <a:pPr indent="0" lvl="0" marL="0" marR="0" rtl="0" algn="l">
              <a:lnSpc>
                <a:spcPct val="86996"/>
              </a:lnSpc>
              <a:spcBef>
                <a:spcPts val="0"/>
              </a:spcBef>
              <a:spcAft>
                <a:spcPts val="0"/>
              </a:spcAft>
              <a:buNone/>
            </a:pPr>
            <a:r>
              <a:rPr lang="en-GB" sz="4100">
                <a:solidFill>
                  <a:srgbClr val="FFFFFF"/>
                </a:solidFill>
              </a:rPr>
              <a:t>INTRODUCTION</a:t>
            </a:r>
            <a:endParaRPr sz="700"/>
          </a:p>
        </p:txBody>
      </p:sp>
      <p:sp>
        <p:nvSpPr>
          <p:cNvPr id="147" name="Google Shape;147;p26"/>
          <p:cNvSpPr txBox="1"/>
          <p:nvPr/>
        </p:nvSpPr>
        <p:spPr>
          <a:xfrm>
            <a:off x="514350" y="2353625"/>
            <a:ext cx="5359800" cy="30309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lang="en-GB" sz="1100">
                <a:solidFill>
                  <a:srgbClr val="FFFFFF"/>
                </a:solidFill>
                <a:latin typeface="Helvetica Neue"/>
                <a:ea typeface="Helvetica Neue"/>
                <a:cs typeface="Helvetica Neue"/>
                <a:sym typeface="Helvetica Neue"/>
              </a:rPr>
              <a:t>This project focuses on automated football match analysis using computer vision. </a:t>
            </a:r>
            <a:endParaRPr sz="1100">
              <a:solidFill>
                <a:srgbClr val="FFFFFF"/>
              </a:solidFill>
              <a:latin typeface="Helvetica Neue"/>
              <a:ea typeface="Helvetica Neue"/>
              <a:cs typeface="Helvetica Neue"/>
              <a:sym typeface="Helvetica Neue"/>
            </a:endParaRPr>
          </a:p>
          <a:p>
            <a:pPr indent="0" lvl="0" marL="0" marR="0" rtl="0" algn="just">
              <a:lnSpc>
                <a:spcPct val="130000"/>
              </a:lnSpc>
              <a:spcBef>
                <a:spcPts val="0"/>
              </a:spcBef>
              <a:spcAft>
                <a:spcPts val="0"/>
              </a:spcAft>
              <a:buNone/>
            </a:pPr>
            <a:r>
              <a:rPr lang="en-GB" sz="1100">
                <a:solidFill>
                  <a:srgbClr val="FFFFFF"/>
                </a:solidFill>
                <a:latin typeface="Helvetica Neue"/>
                <a:ea typeface="Helvetica Neue"/>
                <a:cs typeface="Helvetica Neue"/>
                <a:sym typeface="Helvetica Neue"/>
              </a:rPr>
              <a:t>The system processes full-length match video to extract structured insights such as player tracking, ball possession, tactical zones, and team performance indicators.</a:t>
            </a:r>
            <a:endParaRPr sz="1100">
              <a:solidFill>
                <a:srgbClr val="FFFFFF"/>
              </a:solidFill>
              <a:latin typeface="Helvetica Neue"/>
              <a:ea typeface="Helvetica Neue"/>
              <a:cs typeface="Helvetica Neue"/>
              <a:sym typeface="Helvetica Neue"/>
            </a:endParaRPr>
          </a:p>
          <a:p>
            <a:pPr indent="0" lvl="0" marL="0" rtl="0" algn="just">
              <a:lnSpc>
                <a:spcPct val="130000"/>
              </a:lnSpc>
              <a:spcBef>
                <a:spcPts val="0"/>
              </a:spcBef>
              <a:spcAft>
                <a:spcPts val="0"/>
              </a:spcAft>
              <a:buNone/>
            </a:pPr>
            <a:r>
              <a:rPr lang="en-GB" sz="1100">
                <a:solidFill>
                  <a:schemeClr val="lt1"/>
                </a:solidFill>
                <a:latin typeface="Helvetica Neue"/>
                <a:ea typeface="Helvetica Neue"/>
                <a:cs typeface="Helvetica Neue"/>
                <a:sym typeface="Helvetica Neue"/>
              </a:rPr>
              <a:t>Our pipeline includes several key components: detection of players, ball, and referees using a YOLOv8x model, object tracking with ByteTrack and team assignment using spatial and color-based logic. Another YOLOv8x model for pitch detection, homography mapping to project movements onto a 2D pitch; and tactical board generation, including Voronoi diagrams.</a:t>
            </a:r>
            <a:endParaRPr sz="1100">
              <a:solidFill>
                <a:schemeClr val="lt1"/>
              </a:solidFill>
              <a:latin typeface="Helvetica Neue"/>
              <a:ea typeface="Helvetica Neue"/>
              <a:cs typeface="Helvetica Neue"/>
              <a:sym typeface="Helvetica Neue"/>
            </a:endParaRPr>
          </a:p>
          <a:p>
            <a:pPr indent="0" lvl="0" marL="0" rtl="0" algn="just">
              <a:lnSpc>
                <a:spcPct val="130000"/>
              </a:lnSpc>
              <a:spcBef>
                <a:spcPts val="0"/>
              </a:spcBef>
              <a:spcAft>
                <a:spcPts val="0"/>
              </a:spcAft>
              <a:buClr>
                <a:schemeClr val="dk1"/>
              </a:buClr>
              <a:buFont typeface="Arial"/>
              <a:buNone/>
            </a:pPr>
            <a:r>
              <a:rPr lang="en-GB" sz="1100">
                <a:solidFill>
                  <a:schemeClr val="lt1"/>
                </a:solidFill>
                <a:latin typeface="Helvetica Neue"/>
                <a:ea typeface="Helvetica Neue"/>
                <a:cs typeface="Helvetica Neue"/>
                <a:sym typeface="Helvetica Neue"/>
              </a:rPr>
              <a:t>The system accepts any broadcast football video as input and automatically annotates it with visual overlays, generates Voronoi diagrams, and builds the 2D tactical board, enabling rich, match-wide analysis without manual intervention. (careful to delete stubs when inputting a new video)</a:t>
            </a:r>
            <a:endParaRPr sz="1100">
              <a:solidFill>
                <a:schemeClr val="lt1"/>
              </a:solidFill>
              <a:latin typeface="Helvetica Neue"/>
              <a:ea typeface="Helvetica Neue"/>
              <a:cs typeface="Helvetica Neue"/>
              <a:sym typeface="Helvetica Neue"/>
            </a:endParaRPr>
          </a:p>
          <a:p>
            <a:pPr indent="0" lvl="0" marL="0" marR="0" rtl="0" algn="just">
              <a:lnSpc>
                <a:spcPct val="130000"/>
              </a:lnSpc>
              <a:spcBef>
                <a:spcPts val="0"/>
              </a:spcBef>
              <a:spcAft>
                <a:spcPts val="0"/>
              </a:spcAft>
              <a:buNone/>
            </a:pPr>
            <a:r>
              <a:t/>
            </a:r>
            <a:endParaRPr sz="1100">
              <a:solidFill>
                <a:srgbClr val="FFFFFF"/>
              </a:solidFill>
              <a:latin typeface="Helvetica Neue"/>
              <a:ea typeface="Helvetica Neue"/>
              <a:cs typeface="Helvetica Neue"/>
              <a:sym typeface="Helvetica Neue"/>
            </a:endParaRPr>
          </a:p>
          <a:p>
            <a:pPr indent="0" lvl="0" marL="0" marR="0" rtl="0" algn="just">
              <a:lnSpc>
                <a:spcPct val="130000"/>
              </a:lnSpc>
              <a:spcBef>
                <a:spcPts val="0"/>
              </a:spcBef>
              <a:spcAft>
                <a:spcPts val="0"/>
              </a:spcAft>
              <a:buNone/>
            </a:pPr>
            <a:r>
              <a:t/>
            </a:r>
            <a:endParaRPr sz="1100">
              <a:solidFill>
                <a:srgbClr val="FFFFFF"/>
              </a:solidFill>
              <a:latin typeface="Helvetica Neue"/>
              <a:ea typeface="Helvetica Neue"/>
              <a:cs typeface="Helvetica Neue"/>
              <a:sym typeface="Helvetica Neue"/>
            </a:endParaRPr>
          </a:p>
        </p:txBody>
      </p:sp>
      <p:sp>
        <p:nvSpPr>
          <p:cNvPr id="148" name="Google Shape;148;p26"/>
          <p:cNvSpPr txBox="1"/>
          <p:nvPr/>
        </p:nvSpPr>
        <p:spPr>
          <a:xfrm>
            <a:off x="514350" y="2072967"/>
            <a:ext cx="25260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sz="1300">
                <a:solidFill>
                  <a:srgbClr val="FFFFFF"/>
                </a:solidFill>
                <a:latin typeface="Helvetica Neue"/>
                <a:ea typeface="Helvetica Neue"/>
                <a:cs typeface="Helvetica Neue"/>
                <a:sym typeface="Helvetica Neue"/>
              </a:rPr>
              <a:t>OVERVIEW</a:t>
            </a:r>
            <a:endParaRPr sz="700"/>
          </a:p>
        </p:txBody>
      </p:sp>
      <p:pic>
        <p:nvPicPr>
          <p:cNvPr id="149" name="Google Shape;149;p26" title="Screenshot from 2025-05-19 16-41-57.png"/>
          <p:cNvPicPr preferRelativeResize="0"/>
          <p:nvPr/>
        </p:nvPicPr>
        <p:blipFill rotWithShape="1">
          <a:blip r:embed="rId6">
            <a:alphaModFix/>
          </a:blip>
          <a:srcRect b="0" l="9006" r="15241" t="7621"/>
          <a:stretch/>
        </p:blipFill>
        <p:spPr>
          <a:xfrm>
            <a:off x="5874150" y="-210425"/>
            <a:ext cx="3506100" cy="3001500"/>
          </a:xfrm>
          <a:prstGeom prst="ellipse">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7"/>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sp>
        <p:nvSpPr>
          <p:cNvPr id="155" name="Google Shape;155;p27"/>
          <p:cNvSpPr/>
          <p:nvPr/>
        </p:nvSpPr>
        <p:spPr>
          <a:xfrm>
            <a:off x="514350" y="515015"/>
            <a:ext cx="104079" cy="104079"/>
          </a:xfrm>
          <a:custGeom>
            <a:rect b="b" l="l" r="r" t="t"/>
            <a:pathLst>
              <a:path extrusionOk="0" h="208158" w="208158">
                <a:moveTo>
                  <a:pt x="0" y="0"/>
                </a:moveTo>
                <a:lnTo>
                  <a:pt x="208158" y="0"/>
                </a:lnTo>
                <a:lnTo>
                  <a:pt x="208158" y="208158"/>
                </a:lnTo>
                <a:lnTo>
                  <a:pt x="0" y="208158"/>
                </a:lnTo>
                <a:lnTo>
                  <a:pt x="0" y="0"/>
                </a:lnTo>
                <a:close/>
              </a:path>
            </a:pathLst>
          </a:custGeom>
          <a:blipFill rotWithShape="1">
            <a:blip r:embed="rId4">
              <a:alphaModFix/>
            </a:blip>
            <a:stretch>
              <a:fillRect b="0" l="0" r="0" t="0"/>
            </a:stretch>
          </a:blipFill>
          <a:ln>
            <a:noFill/>
          </a:ln>
        </p:spPr>
      </p:sp>
      <p:cxnSp>
        <p:nvCxnSpPr>
          <p:cNvPr id="156" name="Google Shape;156;p27"/>
          <p:cNvCxnSpPr/>
          <p:nvPr/>
        </p:nvCxnSpPr>
        <p:spPr>
          <a:xfrm>
            <a:off x="0" y="1233469"/>
            <a:ext cx="9144000" cy="0"/>
          </a:xfrm>
          <a:prstGeom prst="straightConnector1">
            <a:avLst/>
          </a:prstGeom>
          <a:noFill/>
          <a:ln cap="flat" cmpd="sng" w="9525">
            <a:solidFill>
              <a:srgbClr val="FFFFFF"/>
            </a:solidFill>
            <a:prstDash val="solid"/>
            <a:round/>
            <a:headEnd len="sm" w="sm" type="none"/>
            <a:tailEnd len="sm" w="sm" type="none"/>
          </a:ln>
        </p:spPr>
      </p:cxnSp>
      <p:grpSp>
        <p:nvGrpSpPr>
          <p:cNvPr id="157" name="Google Shape;157;p27"/>
          <p:cNvGrpSpPr/>
          <p:nvPr/>
        </p:nvGrpSpPr>
        <p:grpSpPr>
          <a:xfrm>
            <a:off x="5450350" y="-836025"/>
            <a:ext cx="4658076" cy="4139021"/>
            <a:chOff x="0" y="0"/>
            <a:chExt cx="812800" cy="812800"/>
          </a:xfrm>
        </p:grpSpPr>
        <p:sp>
          <p:nvSpPr>
            <p:cNvPr id="158" name="Google Shape;158;p2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
              <a:solidFill>
                <a:srgbClr val="FFFFFF"/>
              </a:solidFill>
              <a:prstDash val="solid"/>
              <a:miter lim="8000"/>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59" name="Google Shape;159;p27"/>
            <p:cNvSpPr txBox="1"/>
            <p:nvPr/>
          </p:nvSpPr>
          <p:spPr>
            <a:xfrm>
              <a:off x="76200" y="57150"/>
              <a:ext cx="660300" cy="679500"/>
            </a:xfrm>
            <a:prstGeom prst="rect">
              <a:avLst/>
            </a:prstGeom>
            <a:noFill/>
            <a:ln>
              <a:noFill/>
            </a:ln>
          </p:spPr>
          <p:txBody>
            <a:bodyPr anchorCtr="0" anchor="ctr" bIns="25400" lIns="25400" spcFirstLastPara="1" rIns="25400" wrap="square" tIns="25400">
              <a:noAutofit/>
            </a:bodyPr>
            <a:lstStyle/>
            <a:p>
              <a:pPr indent="0" lvl="0" marL="0" marR="0" rtl="0" algn="ctr">
                <a:lnSpc>
                  <a:spcPct val="1011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60" name="Google Shape;160;p27"/>
          <p:cNvSpPr/>
          <p:nvPr/>
        </p:nvSpPr>
        <p:spPr>
          <a:xfrm>
            <a:off x="8211918" y="4211418"/>
            <a:ext cx="417732" cy="417732"/>
          </a:xfrm>
          <a:custGeom>
            <a:rect b="b" l="l" r="r" t="t"/>
            <a:pathLst>
              <a:path extrusionOk="0" h="835464" w="835464">
                <a:moveTo>
                  <a:pt x="0" y="0"/>
                </a:moveTo>
                <a:lnTo>
                  <a:pt x="835464" y="0"/>
                </a:lnTo>
                <a:lnTo>
                  <a:pt x="835464" y="835464"/>
                </a:lnTo>
                <a:lnTo>
                  <a:pt x="0" y="835464"/>
                </a:lnTo>
                <a:lnTo>
                  <a:pt x="0" y="0"/>
                </a:lnTo>
                <a:close/>
              </a:path>
            </a:pathLst>
          </a:custGeom>
          <a:blipFill rotWithShape="1">
            <a:blip r:embed="rId5">
              <a:alphaModFix/>
            </a:blip>
            <a:stretch>
              <a:fillRect b="0" l="0" r="0" t="0"/>
            </a:stretch>
          </a:blipFill>
          <a:ln>
            <a:noFill/>
          </a:ln>
        </p:spPr>
      </p:sp>
      <p:sp>
        <p:nvSpPr>
          <p:cNvPr id="161" name="Google Shape;161;p27"/>
          <p:cNvSpPr/>
          <p:nvPr/>
        </p:nvSpPr>
        <p:spPr>
          <a:xfrm flipH="1">
            <a:off x="6979567" y="4514100"/>
            <a:ext cx="961227" cy="115050"/>
          </a:xfrm>
          <a:custGeom>
            <a:rect b="b" l="l" r="r" t="t"/>
            <a:pathLst>
              <a:path extrusionOk="0" h="230101" w="1922453">
                <a:moveTo>
                  <a:pt x="1922453" y="0"/>
                </a:moveTo>
                <a:lnTo>
                  <a:pt x="0" y="0"/>
                </a:lnTo>
                <a:lnTo>
                  <a:pt x="0" y="230101"/>
                </a:lnTo>
                <a:lnTo>
                  <a:pt x="1922453" y="230101"/>
                </a:lnTo>
                <a:lnTo>
                  <a:pt x="1922453" y="0"/>
                </a:lnTo>
                <a:close/>
              </a:path>
            </a:pathLst>
          </a:custGeom>
          <a:blipFill rotWithShape="1">
            <a:blip r:embed="rId6">
              <a:alphaModFix/>
            </a:blip>
            <a:stretch>
              <a:fillRect b="0" l="0" r="0" t="0"/>
            </a:stretch>
          </a:blipFill>
          <a:ln>
            <a:noFill/>
          </a:ln>
        </p:spPr>
      </p:sp>
      <p:sp>
        <p:nvSpPr>
          <p:cNvPr id="162" name="Google Shape;162;p27"/>
          <p:cNvSpPr txBox="1"/>
          <p:nvPr/>
        </p:nvSpPr>
        <p:spPr>
          <a:xfrm>
            <a:off x="514350" y="1443432"/>
            <a:ext cx="4885800" cy="549000"/>
          </a:xfrm>
          <a:prstGeom prst="rect">
            <a:avLst/>
          </a:prstGeom>
          <a:noFill/>
          <a:ln>
            <a:noFill/>
          </a:ln>
        </p:spPr>
        <p:txBody>
          <a:bodyPr anchorCtr="0" anchor="t" bIns="0" lIns="0" spcFirstLastPara="1" rIns="0" wrap="square" tIns="0">
            <a:spAutoFit/>
          </a:bodyPr>
          <a:lstStyle/>
          <a:p>
            <a:pPr indent="0" lvl="0" marL="0" marR="0" rtl="0" algn="l">
              <a:lnSpc>
                <a:spcPct val="86996"/>
              </a:lnSpc>
              <a:spcBef>
                <a:spcPts val="0"/>
              </a:spcBef>
              <a:spcAft>
                <a:spcPts val="0"/>
              </a:spcAft>
              <a:buNone/>
            </a:pPr>
            <a:r>
              <a:rPr lang="en-GB" sz="4100">
                <a:solidFill>
                  <a:srgbClr val="FFFFFF"/>
                </a:solidFill>
              </a:rPr>
              <a:t>INTRODUCTION</a:t>
            </a:r>
            <a:endParaRPr sz="700"/>
          </a:p>
        </p:txBody>
      </p:sp>
      <p:sp>
        <p:nvSpPr>
          <p:cNvPr id="163" name="Google Shape;163;p27"/>
          <p:cNvSpPr txBox="1"/>
          <p:nvPr/>
        </p:nvSpPr>
        <p:spPr>
          <a:xfrm>
            <a:off x="696702" y="504825"/>
            <a:ext cx="670200" cy="1077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0" i="0" lang="en-GB" sz="700" u="none" cap="none" strike="noStrike">
                <a:solidFill>
                  <a:srgbClr val="FFFFFF"/>
                </a:solidFill>
                <a:latin typeface="Helvetica Neue"/>
                <a:ea typeface="Helvetica Neue"/>
                <a:cs typeface="Helvetica Neue"/>
                <a:sym typeface="Helvetica Neue"/>
              </a:rPr>
              <a:t>Liceria &amp; Co.</a:t>
            </a:r>
            <a:endParaRPr sz="700"/>
          </a:p>
        </p:txBody>
      </p:sp>
      <p:sp>
        <p:nvSpPr>
          <p:cNvPr id="164" name="Google Shape;164;p27"/>
          <p:cNvSpPr txBox="1"/>
          <p:nvPr/>
        </p:nvSpPr>
        <p:spPr>
          <a:xfrm>
            <a:off x="514350" y="2715925"/>
            <a:ext cx="5717700" cy="14901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lang="en-GB" sz="1100">
                <a:solidFill>
                  <a:srgbClr val="FFFFFF"/>
                </a:solidFill>
                <a:latin typeface="Helvetica Neue"/>
                <a:ea typeface="Helvetica Neue"/>
                <a:cs typeface="Helvetica Neue"/>
                <a:sym typeface="Helvetica Neue"/>
              </a:rPr>
              <a:t>The objective of this project is to analyze football footage to extract tactical information, such as player movement, ball possession, and spatial control. </a:t>
            </a:r>
            <a:endParaRPr sz="1100">
              <a:solidFill>
                <a:srgbClr val="FFFFFF"/>
              </a:solidFill>
              <a:latin typeface="Helvetica Neue"/>
              <a:ea typeface="Helvetica Neue"/>
              <a:cs typeface="Helvetica Neue"/>
              <a:sym typeface="Helvetica Neue"/>
            </a:endParaRPr>
          </a:p>
          <a:p>
            <a:pPr indent="0" lvl="0" marL="0" marR="0" rtl="0" algn="just">
              <a:lnSpc>
                <a:spcPct val="130000"/>
              </a:lnSpc>
              <a:spcBef>
                <a:spcPts val="0"/>
              </a:spcBef>
              <a:spcAft>
                <a:spcPts val="0"/>
              </a:spcAft>
              <a:buNone/>
            </a:pPr>
            <a:r>
              <a:rPr lang="en-GB" sz="1100">
                <a:solidFill>
                  <a:srgbClr val="FFFFFF"/>
                </a:solidFill>
                <a:latin typeface="Helvetica Neue"/>
                <a:ea typeface="Helvetica Neue"/>
                <a:cs typeface="Helvetica Neue"/>
                <a:sym typeface="Helvetica Neue"/>
              </a:rPr>
              <a:t>By leveraging computer vision techniques and homography, we aim to project detections from the video onto a 2D pitch layout, allowing clear visualization of strategy and control. </a:t>
            </a:r>
            <a:endParaRPr sz="1100">
              <a:solidFill>
                <a:srgbClr val="FFFFFF"/>
              </a:solidFill>
              <a:latin typeface="Helvetica Neue"/>
              <a:ea typeface="Helvetica Neue"/>
              <a:cs typeface="Helvetica Neue"/>
              <a:sym typeface="Helvetica Neue"/>
            </a:endParaRPr>
          </a:p>
          <a:p>
            <a:pPr indent="0" lvl="0" marL="0" marR="0" rtl="0" algn="just">
              <a:lnSpc>
                <a:spcPct val="130000"/>
              </a:lnSpc>
              <a:spcBef>
                <a:spcPts val="0"/>
              </a:spcBef>
              <a:spcAft>
                <a:spcPts val="0"/>
              </a:spcAft>
              <a:buNone/>
            </a:pPr>
            <a:r>
              <a:rPr lang="en-GB" sz="1100">
                <a:solidFill>
                  <a:srgbClr val="FFFFFF"/>
                </a:solidFill>
                <a:latin typeface="Helvetica Neue"/>
                <a:ea typeface="Helvetica Neue"/>
                <a:cs typeface="Helvetica Neue"/>
                <a:sym typeface="Helvetica Neue"/>
              </a:rPr>
              <a:t>The system identifies players, assigns teams, and tracks their positions and movement over time, supporting post-match analysis and coaching applications.</a:t>
            </a:r>
            <a:endParaRPr sz="1100">
              <a:solidFill>
                <a:srgbClr val="FFFFFF"/>
              </a:solidFill>
              <a:latin typeface="Helvetica Neue"/>
              <a:ea typeface="Helvetica Neue"/>
              <a:cs typeface="Helvetica Neue"/>
              <a:sym typeface="Helvetica Neue"/>
            </a:endParaRPr>
          </a:p>
          <a:p>
            <a:pPr indent="0" lvl="0" marL="0" marR="0" rtl="0" algn="just">
              <a:lnSpc>
                <a:spcPct val="130000"/>
              </a:lnSpc>
              <a:spcBef>
                <a:spcPts val="0"/>
              </a:spcBef>
              <a:spcAft>
                <a:spcPts val="0"/>
              </a:spcAft>
              <a:buNone/>
            </a:pPr>
            <a:r>
              <a:t/>
            </a:r>
            <a:endParaRPr sz="1100">
              <a:solidFill>
                <a:srgbClr val="FFFFFF"/>
              </a:solidFill>
              <a:latin typeface="Helvetica Neue"/>
              <a:ea typeface="Helvetica Neue"/>
              <a:cs typeface="Helvetica Neue"/>
              <a:sym typeface="Helvetica Neue"/>
            </a:endParaRPr>
          </a:p>
        </p:txBody>
      </p:sp>
      <p:sp>
        <p:nvSpPr>
          <p:cNvPr id="165" name="Google Shape;165;p27"/>
          <p:cNvSpPr txBox="1"/>
          <p:nvPr/>
        </p:nvSpPr>
        <p:spPr>
          <a:xfrm>
            <a:off x="514350" y="2302267"/>
            <a:ext cx="25260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sz="1300">
                <a:solidFill>
                  <a:srgbClr val="FFFFFF"/>
                </a:solidFill>
                <a:latin typeface="Helvetica Neue"/>
                <a:ea typeface="Helvetica Neue"/>
                <a:cs typeface="Helvetica Neue"/>
                <a:sym typeface="Helvetica Neue"/>
              </a:rPr>
              <a:t>OBJECTIVE</a:t>
            </a:r>
            <a:endParaRPr sz="700"/>
          </a:p>
        </p:txBody>
      </p:sp>
      <p:pic>
        <p:nvPicPr>
          <p:cNvPr id="166" name="Google Shape;166;p27" title="Screenshot from 2025-05-19 16-43-26.png"/>
          <p:cNvPicPr preferRelativeResize="0"/>
          <p:nvPr/>
        </p:nvPicPr>
        <p:blipFill rotWithShape="1">
          <a:blip r:embed="rId7">
            <a:alphaModFix/>
          </a:blip>
          <a:srcRect b="0" l="8294" r="10857" t="0"/>
          <a:stretch/>
        </p:blipFill>
        <p:spPr>
          <a:xfrm>
            <a:off x="5881425" y="-200375"/>
            <a:ext cx="3649800" cy="3057000"/>
          </a:xfrm>
          <a:prstGeom prst="ellipse">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8"/>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sp>
        <p:nvSpPr>
          <p:cNvPr id="172" name="Google Shape;172;p28"/>
          <p:cNvSpPr txBox="1"/>
          <p:nvPr/>
        </p:nvSpPr>
        <p:spPr>
          <a:xfrm>
            <a:off x="7959482" y="504193"/>
            <a:ext cx="670200" cy="1077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0" i="0" lang="en-GB" sz="700" u="none" cap="none" strike="noStrike">
                <a:solidFill>
                  <a:srgbClr val="FFFFFF"/>
                </a:solidFill>
                <a:latin typeface="Helvetica Neue"/>
                <a:ea typeface="Helvetica Neue"/>
                <a:cs typeface="Helvetica Neue"/>
                <a:sym typeface="Helvetica Neue"/>
              </a:rPr>
              <a:t>Liceria &amp; Co.</a:t>
            </a:r>
            <a:endParaRPr sz="700"/>
          </a:p>
        </p:txBody>
      </p:sp>
      <p:sp>
        <p:nvSpPr>
          <p:cNvPr id="173" name="Google Shape;173;p28"/>
          <p:cNvSpPr/>
          <p:nvPr/>
        </p:nvSpPr>
        <p:spPr>
          <a:xfrm>
            <a:off x="8525571" y="514383"/>
            <a:ext cx="104079" cy="104079"/>
          </a:xfrm>
          <a:custGeom>
            <a:rect b="b" l="l" r="r" t="t"/>
            <a:pathLst>
              <a:path extrusionOk="0" h="208158" w="208158">
                <a:moveTo>
                  <a:pt x="0" y="0"/>
                </a:moveTo>
                <a:lnTo>
                  <a:pt x="208158" y="0"/>
                </a:lnTo>
                <a:lnTo>
                  <a:pt x="208158" y="208158"/>
                </a:lnTo>
                <a:lnTo>
                  <a:pt x="0" y="208158"/>
                </a:lnTo>
                <a:lnTo>
                  <a:pt x="0" y="0"/>
                </a:lnTo>
                <a:close/>
              </a:path>
            </a:pathLst>
          </a:custGeom>
          <a:blipFill rotWithShape="1">
            <a:blip r:embed="rId4">
              <a:alphaModFix/>
            </a:blip>
            <a:stretch>
              <a:fillRect b="0" l="0" r="0" t="0"/>
            </a:stretch>
          </a:blipFill>
          <a:ln>
            <a:noFill/>
          </a:ln>
        </p:spPr>
      </p:sp>
      <p:cxnSp>
        <p:nvCxnSpPr>
          <p:cNvPr id="174" name="Google Shape;174;p28"/>
          <p:cNvCxnSpPr/>
          <p:nvPr/>
        </p:nvCxnSpPr>
        <p:spPr>
          <a:xfrm rot="10800000">
            <a:off x="6657363" y="-1858"/>
            <a:ext cx="0" cy="5143500"/>
          </a:xfrm>
          <a:prstGeom prst="straightConnector1">
            <a:avLst/>
          </a:prstGeom>
          <a:noFill/>
          <a:ln cap="flat" cmpd="sng" w="9525">
            <a:solidFill>
              <a:srgbClr val="FFFFFF"/>
            </a:solidFill>
            <a:prstDash val="solid"/>
            <a:round/>
            <a:headEnd len="sm" w="sm" type="none"/>
            <a:tailEnd len="sm" w="sm" type="none"/>
          </a:ln>
        </p:spPr>
      </p:cxnSp>
      <p:grpSp>
        <p:nvGrpSpPr>
          <p:cNvPr id="175" name="Google Shape;175;p28"/>
          <p:cNvGrpSpPr/>
          <p:nvPr/>
        </p:nvGrpSpPr>
        <p:grpSpPr>
          <a:xfrm>
            <a:off x="4880291" y="1055955"/>
            <a:ext cx="3573231" cy="3573231"/>
            <a:chOff x="0" y="0"/>
            <a:chExt cx="812800" cy="812800"/>
          </a:xfrm>
        </p:grpSpPr>
        <p:sp>
          <p:nvSpPr>
            <p:cNvPr id="176" name="Google Shape;176;p2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
              <a:solidFill>
                <a:srgbClr val="FFFFFF"/>
              </a:solidFill>
              <a:prstDash val="solid"/>
              <a:miter lim="8000"/>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77" name="Google Shape;177;p28"/>
            <p:cNvSpPr txBox="1"/>
            <p:nvPr/>
          </p:nvSpPr>
          <p:spPr>
            <a:xfrm>
              <a:off x="76200" y="57150"/>
              <a:ext cx="660300" cy="679500"/>
            </a:xfrm>
            <a:prstGeom prst="rect">
              <a:avLst/>
            </a:prstGeom>
            <a:noFill/>
            <a:ln>
              <a:noFill/>
            </a:ln>
          </p:spPr>
          <p:txBody>
            <a:bodyPr anchorCtr="0" anchor="ctr" bIns="25400" lIns="25400" spcFirstLastPara="1" rIns="25400" wrap="square" tIns="25400">
              <a:noAutofit/>
            </a:bodyPr>
            <a:lstStyle/>
            <a:p>
              <a:pPr indent="0" lvl="0" marL="0" marR="0" rtl="0" algn="ctr">
                <a:lnSpc>
                  <a:spcPct val="1011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78" name="Google Shape;178;p28"/>
          <p:cNvSpPr/>
          <p:nvPr/>
        </p:nvSpPr>
        <p:spPr>
          <a:xfrm>
            <a:off x="514350" y="2958947"/>
            <a:ext cx="439035" cy="439034"/>
          </a:xfrm>
          <a:custGeom>
            <a:rect b="b" l="l" r="r" t="t"/>
            <a:pathLst>
              <a:path extrusionOk="0" h="878069" w="878069">
                <a:moveTo>
                  <a:pt x="0" y="0"/>
                </a:moveTo>
                <a:lnTo>
                  <a:pt x="878069" y="0"/>
                </a:lnTo>
                <a:lnTo>
                  <a:pt x="878069" y="878069"/>
                </a:lnTo>
                <a:lnTo>
                  <a:pt x="0" y="878069"/>
                </a:lnTo>
                <a:lnTo>
                  <a:pt x="0" y="0"/>
                </a:lnTo>
                <a:close/>
              </a:path>
            </a:pathLst>
          </a:custGeom>
          <a:blipFill rotWithShape="1">
            <a:blip r:embed="rId5">
              <a:alphaModFix/>
            </a:blip>
            <a:stretch>
              <a:fillRect b="0" l="0" r="0" t="0"/>
            </a:stretch>
          </a:blipFill>
          <a:ln>
            <a:noFill/>
          </a:ln>
        </p:spPr>
      </p:sp>
      <p:sp>
        <p:nvSpPr>
          <p:cNvPr id="179" name="Google Shape;179;p28"/>
          <p:cNvSpPr/>
          <p:nvPr/>
        </p:nvSpPr>
        <p:spPr>
          <a:xfrm flipH="1">
            <a:off x="7833142" y="4533815"/>
            <a:ext cx="796507" cy="95335"/>
          </a:xfrm>
          <a:custGeom>
            <a:rect b="b" l="l" r="r" t="t"/>
            <a:pathLst>
              <a:path extrusionOk="0" h="190670" w="1593015">
                <a:moveTo>
                  <a:pt x="1593015" y="0"/>
                </a:moveTo>
                <a:lnTo>
                  <a:pt x="0" y="0"/>
                </a:lnTo>
                <a:lnTo>
                  <a:pt x="0" y="190670"/>
                </a:lnTo>
                <a:lnTo>
                  <a:pt x="1593015" y="190670"/>
                </a:lnTo>
                <a:lnTo>
                  <a:pt x="1593015" y="0"/>
                </a:lnTo>
                <a:close/>
              </a:path>
            </a:pathLst>
          </a:custGeom>
          <a:blipFill rotWithShape="1">
            <a:blip r:embed="rId6">
              <a:alphaModFix/>
            </a:blip>
            <a:stretch>
              <a:fillRect b="0" l="0" r="0" t="0"/>
            </a:stretch>
          </a:blipFill>
          <a:ln>
            <a:noFill/>
          </a:ln>
        </p:spPr>
      </p:sp>
      <p:sp>
        <p:nvSpPr>
          <p:cNvPr id="180" name="Google Shape;180;p28"/>
          <p:cNvSpPr txBox="1"/>
          <p:nvPr/>
        </p:nvSpPr>
        <p:spPr>
          <a:xfrm>
            <a:off x="514350" y="3682625"/>
            <a:ext cx="4695000" cy="1332600"/>
          </a:xfrm>
          <a:prstGeom prst="rect">
            <a:avLst/>
          </a:prstGeom>
          <a:noFill/>
          <a:ln>
            <a:noFill/>
          </a:ln>
        </p:spPr>
        <p:txBody>
          <a:bodyPr anchorCtr="0" anchor="t" bIns="0" lIns="0" spcFirstLastPara="1" rIns="0" wrap="square" tIns="0">
            <a:spAutoFit/>
          </a:bodyPr>
          <a:lstStyle/>
          <a:p>
            <a:pPr indent="0" lvl="0" marL="0" marR="0" rtl="0" algn="l">
              <a:lnSpc>
                <a:spcPct val="86999"/>
              </a:lnSpc>
              <a:spcBef>
                <a:spcPts val="0"/>
              </a:spcBef>
              <a:spcAft>
                <a:spcPts val="0"/>
              </a:spcAft>
              <a:buNone/>
            </a:pPr>
            <a:r>
              <a:rPr lang="en-GB" sz="4300">
                <a:solidFill>
                  <a:srgbClr val="FFFFFF"/>
                </a:solidFill>
              </a:rPr>
              <a:t>INFORMATION</a:t>
            </a:r>
            <a:br>
              <a:rPr lang="en-GB" sz="4300">
                <a:solidFill>
                  <a:srgbClr val="FFFFFF"/>
                </a:solidFill>
              </a:rPr>
            </a:br>
            <a:r>
              <a:rPr lang="en-GB" sz="4300">
                <a:solidFill>
                  <a:srgbClr val="FFFFFF"/>
                </a:solidFill>
              </a:rPr>
              <a:t>ABOUT DATASET</a:t>
            </a:r>
            <a:endParaRPr sz="700"/>
          </a:p>
          <a:p>
            <a:pPr indent="0" lvl="0" marL="0" marR="0" rtl="0" algn="l">
              <a:lnSpc>
                <a:spcPct val="27319"/>
              </a:lnSpc>
              <a:spcBef>
                <a:spcPts val="0"/>
              </a:spcBef>
              <a:spcAft>
                <a:spcPts val="0"/>
              </a:spcAft>
              <a:buNone/>
            </a:pPr>
            <a:r>
              <a:t/>
            </a:r>
            <a:endParaRPr b="0" i="0" sz="4300" u="none" cap="none" strike="noStrike">
              <a:solidFill>
                <a:srgbClr val="FFFFFF"/>
              </a:solidFill>
              <a:latin typeface="Arial"/>
              <a:ea typeface="Arial"/>
              <a:cs typeface="Arial"/>
              <a:sym typeface="Arial"/>
            </a:endParaRPr>
          </a:p>
        </p:txBody>
      </p:sp>
      <p:sp>
        <p:nvSpPr>
          <p:cNvPr id="181" name="Google Shape;181;p28"/>
          <p:cNvSpPr txBox="1"/>
          <p:nvPr/>
        </p:nvSpPr>
        <p:spPr>
          <a:xfrm>
            <a:off x="409150" y="1008250"/>
            <a:ext cx="1972800" cy="1579200"/>
          </a:xfrm>
          <a:prstGeom prst="rect">
            <a:avLst/>
          </a:prstGeom>
          <a:noFill/>
          <a:ln>
            <a:noFill/>
          </a:ln>
        </p:spPr>
        <p:txBody>
          <a:bodyPr anchorCtr="0" anchor="t" bIns="0" lIns="0" spcFirstLastPara="1" rIns="0" wrap="square" tIns="0">
            <a:spAutoFit/>
          </a:bodyPr>
          <a:lstStyle/>
          <a:p>
            <a:pPr indent="0" lvl="0" marL="0" rtl="0" algn="just">
              <a:lnSpc>
                <a:spcPct val="130000"/>
              </a:lnSpc>
              <a:spcBef>
                <a:spcPts val="0"/>
              </a:spcBef>
              <a:spcAft>
                <a:spcPts val="0"/>
              </a:spcAft>
              <a:buClr>
                <a:schemeClr val="dk1"/>
              </a:buClr>
              <a:buFont typeface="Arial"/>
              <a:buNone/>
            </a:pPr>
            <a:r>
              <a:rPr lang="en-GB" sz="900">
                <a:solidFill>
                  <a:schemeClr val="lt1"/>
                </a:solidFill>
                <a:latin typeface="Helvetica Neue"/>
                <a:ea typeface="Helvetica Neue"/>
                <a:cs typeface="Helvetica Neue"/>
                <a:sym typeface="Helvetica Neue"/>
              </a:rPr>
              <a:t>T</a:t>
            </a:r>
            <a:r>
              <a:rPr lang="en-GB" sz="900">
                <a:solidFill>
                  <a:schemeClr val="lt1"/>
                </a:solidFill>
                <a:latin typeface="Helvetica Neue"/>
                <a:ea typeface="Helvetica Neue"/>
                <a:cs typeface="Helvetica Neue"/>
                <a:sym typeface="Helvetica Neue"/>
              </a:rPr>
              <a:t>he primary dataset consisted of images from football matches, where each player, referee, and the ball were annotated and categorized into specific classes. A YOLOv8x model was trained on this dataset, enabling it to detect individuals in each frame and return their bounding boxes.</a:t>
            </a:r>
            <a:endParaRPr sz="900">
              <a:solidFill>
                <a:schemeClr val="lt1"/>
              </a:solidFill>
              <a:latin typeface="Helvetica Neue"/>
              <a:ea typeface="Helvetica Neue"/>
              <a:cs typeface="Helvetica Neue"/>
              <a:sym typeface="Helvetica Neue"/>
            </a:endParaRPr>
          </a:p>
          <a:p>
            <a:pPr indent="0" lvl="0" marL="0" marR="0" rtl="0" algn="just">
              <a:lnSpc>
                <a:spcPct val="130000"/>
              </a:lnSpc>
              <a:spcBef>
                <a:spcPts val="0"/>
              </a:spcBef>
              <a:spcAft>
                <a:spcPts val="0"/>
              </a:spcAft>
              <a:buNone/>
            </a:pPr>
            <a:r>
              <a:t/>
            </a:r>
            <a:endParaRPr sz="900">
              <a:solidFill>
                <a:srgbClr val="FFFFFF"/>
              </a:solidFill>
              <a:latin typeface="Helvetica Neue"/>
              <a:ea typeface="Helvetica Neue"/>
              <a:cs typeface="Helvetica Neue"/>
              <a:sym typeface="Helvetica Neue"/>
            </a:endParaRPr>
          </a:p>
        </p:txBody>
      </p:sp>
      <p:sp>
        <p:nvSpPr>
          <p:cNvPr id="182" name="Google Shape;182;p28"/>
          <p:cNvSpPr txBox="1"/>
          <p:nvPr/>
        </p:nvSpPr>
        <p:spPr>
          <a:xfrm>
            <a:off x="409150" y="514371"/>
            <a:ext cx="15447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Font typeface="Arial"/>
              <a:buNone/>
            </a:pPr>
            <a:r>
              <a:rPr lang="en-GB" sz="1300">
                <a:solidFill>
                  <a:srgbClr val="FFFFFF"/>
                </a:solidFill>
                <a:latin typeface="Helvetica Neue"/>
                <a:ea typeface="Helvetica Neue"/>
                <a:cs typeface="Helvetica Neue"/>
                <a:sym typeface="Helvetica Neue"/>
              </a:rPr>
              <a:t>DATASET</a:t>
            </a:r>
            <a:endParaRPr sz="700"/>
          </a:p>
        </p:txBody>
      </p:sp>
      <p:sp>
        <p:nvSpPr>
          <p:cNvPr id="183" name="Google Shape;183;p28"/>
          <p:cNvSpPr txBox="1"/>
          <p:nvPr/>
        </p:nvSpPr>
        <p:spPr>
          <a:xfrm>
            <a:off x="2623925" y="504850"/>
            <a:ext cx="2390700" cy="21195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lang="en-GB" sz="900">
                <a:solidFill>
                  <a:srgbClr val="FFFFFF"/>
                </a:solidFill>
                <a:latin typeface="Helvetica Neue"/>
                <a:ea typeface="Helvetica Neue"/>
                <a:cs typeface="Helvetica Neue"/>
                <a:sym typeface="Helvetica Neue"/>
              </a:rPr>
              <a:t>T</a:t>
            </a:r>
            <a:r>
              <a:rPr lang="en-GB" sz="900">
                <a:solidFill>
                  <a:srgbClr val="FFFFFF"/>
                </a:solidFill>
                <a:latin typeface="Helvetica Neue"/>
                <a:ea typeface="Helvetica Neue"/>
                <a:cs typeface="Helvetica Neue"/>
                <a:sym typeface="Helvetica Neue"/>
              </a:rPr>
              <a:t>he second dataset also featured images, but focused on football pitches captured from various angles, with key vertices marked at relevant points across the field. A total of 32 distinct points were defined, though no single image included all of them simultaneously.</a:t>
            </a:r>
            <a:endParaRPr sz="900">
              <a:solidFill>
                <a:srgbClr val="FFFFFF"/>
              </a:solidFill>
              <a:latin typeface="Helvetica Neue"/>
              <a:ea typeface="Helvetica Neue"/>
              <a:cs typeface="Helvetica Neue"/>
              <a:sym typeface="Helvetica Neue"/>
            </a:endParaRPr>
          </a:p>
          <a:p>
            <a:pPr indent="0" lvl="0" marL="0" marR="0" rtl="0" algn="just">
              <a:lnSpc>
                <a:spcPct val="130000"/>
              </a:lnSpc>
              <a:spcBef>
                <a:spcPts val="0"/>
              </a:spcBef>
              <a:spcAft>
                <a:spcPts val="0"/>
              </a:spcAft>
              <a:buNone/>
            </a:pPr>
            <a:r>
              <a:rPr lang="en-GB" sz="900">
                <a:solidFill>
                  <a:srgbClr val="FFFFFF"/>
                </a:solidFill>
                <a:latin typeface="Helvetica Neue"/>
                <a:ea typeface="Helvetica Neue"/>
                <a:cs typeface="Helvetica Neue"/>
                <a:sym typeface="Helvetica Neue"/>
              </a:rPr>
              <a:t>Both datasets provided a variety of challenges, such as changing camera angles, partial occlusion, and varying lighting, which were important in testing the robustness of the system. Both of them were found on roboflow.</a:t>
            </a:r>
            <a:endParaRPr sz="900">
              <a:solidFill>
                <a:srgbClr val="FFFFFF"/>
              </a:solidFill>
              <a:latin typeface="Helvetica Neue"/>
              <a:ea typeface="Helvetica Neue"/>
              <a:cs typeface="Helvetica Neue"/>
              <a:sym typeface="Helvetica Neue"/>
            </a:endParaRPr>
          </a:p>
          <a:p>
            <a:pPr indent="0" lvl="0" marL="0" marR="0" rtl="0" algn="just">
              <a:lnSpc>
                <a:spcPct val="130000"/>
              </a:lnSpc>
              <a:spcBef>
                <a:spcPts val="0"/>
              </a:spcBef>
              <a:spcAft>
                <a:spcPts val="0"/>
              </a:spcAft>
              <a:buNone/>
            </a:pPr>
            <a:r>
              <a:t/>
            </a:r>
            <a:endParaRPr sz="900">
              <a:solidFill>
                <a:srgbClr val="FFFFFF"/>
              </a:solidFill>
              <a:latin typeface="Helvetica Neue"/>
              <a:ea typeface="Helvetica Neue"/>
              <a:cs typeface="Helvetica Neue"/>
              <a:sym typeface="Helvetica Neue"/>
            </a:endParaRPr>
          </a:p>
        </p:txBody>
      </p:sp>
      <p:pic>
        <p:nvPicPr>
          <p:cNvPr id="184" name="Google Shape;184;p28" title="Screenshot from 2025-05-19 16-41-37.png"/>
          <p:cNvPicPr preferRelativeResize="0"/>
          <p:nvPr/>
        </p:nvPicPr>
        <p:blipFill rotWithShape="1">
          <a:blip r:embed="rId7">
            <a:alphaModFix/>
          </a:blip>
          <a:srcRect b="0" l="11965" r="9157" t="0"/>
          <a:stretch/>
        </p:blipFill>
        <p:spPr>
          <a:xfrm>
            <a:off x="5209350" y="1479975"/>
            <a:ext cx="2958900" cy="2725200"/>
          </a:xfrm>
          <a:prstGeom prst="ellipse">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9"/>
          <p:cNvSpPr/>
          <p:nvPr/>
        </p:nvSpPr>
        <p:spPr>
          <a:xfrm>
            <a:off x="-12"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20"/>
            </a:stretch>
          </a:blipFill>
          <a:ln>
            <a:noFill/>
          </a:ln>
        </p:spPr>
      </p:sp>
      <p:sp>
        <p:nvSpPr>
          <p:cNvPr id="190" name="Google Shape;190;p29"/>
          <p:cNvSpPr/>
          <p:nvPr/>
        </p:nvSpPr>
        <p:spPr>
          <a:xfrm>
            <a:off x="514350" y="4524405"/>
            <a:ext cx="104079" cy="104079"/>
          </a:xfrm>
          <a:custGeom>
            <a:rect b="b" l="l" r="r" t="t"/>
            <a:pathLst>
              <a:path extrusionOk="0" h="208158" w="208158">
                <a:moveTo>
                  <a:pt x="0" y="0"/>
                </a:moveTo>
                <a:lnTo>
                  <a:pt x="208158" y="0"/>
                </a:lnTo>
                <a:lnTo>
                  <a:pt x="208158" y="208158"/>
                </a:lnTo>
                <a:lnTo>
                  <a:pt x="0" y="208158"/>
                </a:lnTo>
                <a:lnTo>
                  <a:pt x="0" y="0"/>
                </a:lnTo>
                <a:close/>
              </a:path>
            </a:pathLst>
          </a:custGeom>
          <a:blipFill rotWithShape="1">
            <a:blip r:embed="rId4">
              <a:alphaModFix/>
            </a:blip>
            <a:stretch>
              <a:fillRect b="0" l="0" r="0" t="0"/>
            </a:stretch>
          </a:blipFill>
          <a:ln>
            <a:noFill/>
          </a:ln>
        </p:spPr>
      </p:sp>
      <p:grpSp>
        <p:nvGrpSpPr>
          <p:cNvPr id="191" name="Google Shape;191;p29"/>
          <p:cNvGrpSpPr/>
          <p:nvPr/>
        </p:nvGrpSpPr>
        <p:grpSpPr>
          <a:xfrm>
            <a:off x="5055825" y="1772526"/>
            <a:ext cx="3573842" cy="3012901"/>
            <a:chOff x="0" y="-19050"/>
            <a:chExt cx="1383869" cy="1504720"/>
          </a:xfrm>
        </p:grpSpPr>
        <p:sp>
          <p:nvSpPr>
            <p:cNvPr id="192" name="Google Shape;192;p29"/>
            <p:cNvSpPr/>
            <p:nvPr/>
          </p:nvSpPr>
          <p:spPr>
            <a:xfrm>
              <a:off x="0" y="0"/>
              <a:ext cx="1383869" cy="1485670"/>
            </a:xfrm>
            <a:custGeom>
              <a:rect b="b" l="l" r="r" t="t"/>
              <a:pathLst>
                <a:path extrusionOk="0" h="1485670" w="1383869">
                  <a:moveTo>
                    <a:pt x="0" y="0"/>
                  </a:moveTo>
                  <a:lnTo>
                    <a:pt x="1383869" y="0"/>
                  </a:lnTo>
                  <a:lnTo>
                    <a:pt x="1383869" y="1485670"/>
                  </a:lnTo>
                  <a:lnTo>
                    <a:pt x="0" y="1485670"/>
                  </a:lnTo>
                  <a:close/>
                </a:path>
              </a:pathLst>
            </a:custGeom>
            <a:solidFill>
              <a:srgbClr val="5A7354"/>
            </a:solidFill>
            <a:ln>
              <a:noFill/>
            </a:ln>
          </p:spPr>
        </p:sp>
        <p:sp>
          <p:nvSpPr>
            <p:cNvPr id="193" name="Google Shape;193;p29"/>
            <p:cNvSpPr txBox="1"/>
            <p:nvPr/>
          </p:nvSpPr>
          <p:spPr>
            <a:xfrm>
              <a:off x="0" y="-19050"/>
              <a:ext cx="1383869" cy="1504720"/>
            </a:xfrm>
            <a:prstGeom prst="rect">
              <a:avLst/>
            </a:prstGeom>
            <a:noFill/>
            <a:ln>
              <a:noFill/>
            </a:ln>
          </p:spPr>
          <p:txBody>
            <a:bodyPr anchorCtr="0" anchor="ctr" bIns="25400" lIns="25400" spcFirstLastPara="1" rIns="25400" wrap="square" tIns="25400">
              <a:noAutofit/>
            </a:bodyPr>
            <a:lstStyle/>
            <a:p>
              <a:pPr indent="0" lvl="0" marL="0" marR="0" rtl="0" algn="ctr">
                <a:lnSpc>
                  <a:spcPct val="1011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94" name="Google Shape;194;p29"/>
          <p:cNvSpPr txBox="1"/>
          <p:nvPr/>
        </p:nvSpPr>
        <p:spPr>
          <a:xfrm>
            <a:off x="514350" y="1822987"/>
            <a:ext cx="4057800" cy="1339200"/>
          </a:xfrm>
          <a:prstGeom prst="rect">
            <a:avLst/>
          </a:prstGeom>
          <a:noFill/>
          <a:ln>
            <a:noFill/>
          </a:ln>
        </p:spPr>
        <p:txBody>
          <a:bodyPr anchorCtr="0" anchor="t" bIns="0" lIns="0" spcFirstLastPara="1" rIns="0" wrap="square" tIns="0">
            <a:spAutoFit/>
          </a:bodyPr>
          <a:lstStyle/>
          <a:p>
            <a:pPr indent="0" lvl="0" marL="0" marR="0" rtl="0" algn="l">
              <a:lnSpc>
                <a:spcPct val="87002"/>
              </a:lnSpc>
              <a:spcBef>
                <a:spcPts val="0"/>
              </a:spcBef>
              <a:spcAft>
                <a:spcPts val="0"/>
              </a:spcAft>
              <a:buNone/>
            </a:pPr>
            <a:r>
              <a:rPr lang="en-GB" sz="5000">
                <a:solidFill>
                  <a:srgbClr val="FFFFFF"/>
                </a:solidFill>
              </a:rPr>
              <a:t>TRAINING AND TUNING</a:t>
            </a:r>
            <a:endParaRPr sz="700"/>
          </a:p>
        </p:txBody>
      </p:sp>
      <p:sp>
        <p:nvSpPr>
          <p:cNvPr id="195" name="Google Shape;195;p29"/>
          <p:cNvSpPr txBox="1"/>
          <p:nvPr/>
        </p:nvSpPr>
        <p:spPr>
          <a:xfrm>
            <a:off x="5322200" y="2250975"/>
            <a:ext cx="3041100" cy="12438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lang="en-GB" sz="800">
                <a:solidFill>
                  <a:srgbClr val="FFFFFF"/>
                </a:solidFill>
                <a:latin typeface="Helvetica Neue"/>
                <a:ea typeface="Helvetica Neue"/>
                <a:cs typeface="Helvetica Neue"/>
                <a:sym typeface="Helvetica Neue"/>
              </a:rPr>
              <a:t>Two separate models were trained for this project. The first, a YOLOv8x model for player, ball, and referee detection, was trained locally using the Ultralytics CLI with a batch size of 6, 50 epochs, and an image resolution of 960×960. The training used the command-line interface and Roboflow-exported data.yaml for streamlined integration. Model was trained on kaggle, jupyter notebook is called: train-pl-det.ipynb</a:t>
            </a:r>
            <a:endParaRPr sz="800">
              <a:solidFill>
                <a:srgbClr val="FFFFFF"/>
              </a:solidFill>
              <a:latin typeface="Helvetica Neue"/>
              <a:ea typeface="Helvetica Neue"/>
              <a:cs typeface="Helvetica Neue"/>
              <a:sym typeface="Helvetica Neue"/>
            </a:endParaRPr>
          </a:p>
          <a:p>
            <a:pPr indent="0" lvl="0" marL="0" marR="0" rtl="0" algn="just">
              <a:lnSpc>
                <a:spcPct val="130000"/>
              </a:lnSpc>
              <a:spcBef>
                <a:spcPts val="0"/>
              </a:spcBef>
              <a:spcAft>
                <a:spcPts val="0"/>
              </a:spcAft>
              <a:buNone/>
            </a:pPr>
            <a:r>
              <a:t/>
            </a:r>
            <a:endParaRPr sz="800">
              <a:solidFill>
                <a:srgbClr val="FFFFFF"/>
              </a:solidFill>
              <a:latin typeface="Helvetica Neue"/>
              <a:ea typeface="Helvetica Neue"/>
              <a:cs typeface="Helvetica Neue"/>
              <a:sym typeface="Helvetica Neue"/>
            </a:endParaRPr>
          </a:p>
        </p:txBody>
      </p:sp>
      <p:sp>
        <p:nvSpPr>
          <p:cNvPr id="196" name="Google Shape;196;p29"/>
          <p:cNvSpPr txBox="1"/>
          <p:nvPr/>
        </p:nvSpPr>
        <p:spPr>
          <a:xfrm>
            <a:off x="696702" y="4514215"/>
            <a:ext cx="670169" cy="11493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0" i="0" lang="en-GB" sz="700" u="none" cap="none" strike="noStrike">
                <a:solidFill>
                  <a:srgbClr val="FFFFFF"/>
                </a:solidFill>
                <a:latin typeface="Helvetica Neue"/>
                <a:ea typeface="Helvetica Neue"/>
                <a:cs typeface="Helvetica Neue"/>
                <a:sym typeface="Helvetica Neue"/>
              </a:rPr>
              <a:t>Liceria &amp; Co.</a:t>
            </a:r>
            <a:endParaRPr sz="700"/>
          </a:p>
        </p:txBody>
      </p:sp>
      <p:grpSp>
        <p:nvGrpSpPr>
          <p:cNvPr id="197" name="Google Shape;197;p29"/>
          <p:cNvGrpSpPr/>
          <p:nvPr/>
        </p:nvGrpSpPr>
        <p:grpSpPr>
          <a:xfrm>
            <a:off x="3141538" y="-916111"/>
            <a:ext cx="2860923" cy="2860923"/>
            <a:chOff x="0" y="0"/>
            <a:chExt cx="812800" cy="812800"/>
          </a:xfrm>
        </p:grpSpPr>
        <p:sp>
          <p:nvSpPr>
            <p:cNvPr id="198" name="Google Shape;198;p2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
              <a:solidFill>
                <a:srgbClr val="FFFFFF"/>
              </a:solidFill>
              <a:prstDash val="solid"/>
              <a:miter lim="8000"/>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99" name="Google Shape;199;p29"/>
            <p:cNvSpPr txBox="1"/>
            <p:nvPr/>
          </p:nvSpPr>
          <p:spPr>
            <a:xfrm>
              <a:off x="76200" y="57150"/>
              <a:ext cx="660400" cy="679450"/>
            </a:xfrm>
            <a:prstGeom prst="rect">
              <a:avLst/>
            </a:prstGeom>
            <a:noFill/>
            <a:ln>
              <a:noFill/>
            </a:ln>
          </p:spPr>
          <p:txBody>
            <a:bodyPr anchorCtr="0" anchor="ctr" bIns="25400" lIns="25400" spcFirstLastPara="1" rIns="25400" wrap="square" tIns="25400">
              <a:noAutofit/>
            </a:bodyPr>
            <a:lstStyle/>
            <a:p>
              <a:pPr indent="0" lvl="0" marL="0" marR="0" rtl="0" algn="ctr">
                <a:lnSpc>
                  <a:spcPct val="1011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cxnSp>
        <p:nvCxnSpPr>
          <p:cNvPr id="200" name="Google Shape;200;p29"/>
          <p:cNvCxnSpPr/>
          <p:nvPr/>
        </p:nvCxnSpPr>
        <p:spPr>
          <a:xfrm>
            <a:off x="0" y="523875"/>
            <a:ext cx="9144000" cy="0"/>
          </a:xfrm>
          <a:prstGeom prst="straightConnector1">
            <a:avLst/>
          </a:prstGeom>
          <a:noFill/>
          <a:ln cap="flat" cmpd="sng" w="9525">
            <a:solidFill>
              <a:srgbClr val="FFFFFF"/>
            </a:solidFill>
            <a:prstDash val="solid"/>
            <a:round/>
            <a:headEnd len="sm" w="sm" type="none"/>
            <a:tailEnd len="sm" w="sm" type="none"/>
          </a:ln>
        </p:spPr>
      </p:cxnSp>
      <p:sp>
        <p:nvSpPr>
          <p:cNvPr id="201" name="Google Shape;201;p29"/>
          <p:cNvSpPr/>
          <p:nvPr/>
        </p:nvSpPr>
        <p:spPr>
          <a:xfrm>
            <a:off x="3456575" y="-601074"/>
            <a:ext cx="2230849" cy="2230849"/>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5">
              <a:alphaModFix/>
            </a:blip>
            <a:stretch>
              <a:fillRect b="0" l="-25045" r="-25045" t="0"/>
            </a:stretch>
          </a:blip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02" name="Google Shape;202;p29"/>
          <p:cNvSpPr txBox="1"/>
          <p:nvPr/>
        </p:nvSpPr>
        <p:spPr>
          <a:xfrm>
            <a:off x="5302498" y="1997825"/>
            <a:ext cx="26982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sz="1300">
                <a:solidFill>
                  <a:srgbClr val="FFFFFF"/>
                </a:solidFill>
                <a:latin typeface="Helvetica Neue"/>
                <a:ea typeface="Helvetica Neue"/>
                <a:cs typeface="Helvetica Neue"/>
                <a:sym typeface="Helvetica Neue"/>
              </a:rPr>
              <a:t>Player Detection Model</a:t>
            </a:r>
            <a:endParaRPr sz="700"/>
          </a:p>
        </p:txBody>
      </p:sp>
      <p:sp>
        <p:nvSpPr>
          <p:cNvPr id="203" name="Google Shape;203;p29"/>
          <p:cNvSpPr txBox="1"/>
          <p:nvPr/>
        </p:nvSpPr>
        <p:spPr>
          <a:xfrm>
            <a:off x="5302500" y="3630275"/>
            <a:ext cx="3041100" cy="923400"/>
          </a:xfrm>
          <a:prstGeom prst="rect">
            <a:avLst/>
          </a:prstGeom>
          <a:noFill/>
          <a:ln>
            <a:noFill/>
          </a:ln>
        </p:spPr>
        <p:txBody>
          <a:bodyPr anchorCtr="0" anchor="t" bIns="0" lIns="0" spcFirstLastPara="1" rIns="0" wrap="square" tIns="0">
            <a:spAutoFit/>
          </a:bodyPr>
          <a:lstStyle/>
          <a:p>
            <a:pPr indent="0" lvl="0" marL="0" rtl="0" algn="just">
              <a:lnSpc>
                <a:spcPct val="130000"/>
              </a:lnSpc>
              <a:spcBef>
                <a:spcPts val="0"/>
              </a:spcBef>
              <a:spcAft>
                <a:spcPts val="0"/>
              </a:spcAft>
              <a:buClr>
                <a:schemeClr val="dk1"/>
              </a:buClr>
              <a:buFont typeface="Arial"/>
              <a:buNone/>
            </a:pPr>
            <a:r>
              <a:rPr lang="en-GB" sz="800">
                <a:solidFill>
                  <a:schemeClr val="lt1"/>
                </a:solidFill>
                <a:latin typeface="Helvetica Neue"/>
                <a:ea typeface="Helvetica Neue"/>
                <a:cs typeface="Helvetica Neue"/>
                <a:sym typeface="Helvetica Neue"/>
              </a:rPr>
              <a:t>The second model, used for detecting pitch keypoints, was trained on Kaggle to leverage GPU acceleration. Both models were tuned using appropriate confidence thresholds and data augmentations to handle lighting variation, occlusions, and perspective distortions. These steps were crucial for enabling stable tracking and accurate homography projection in downstream tasks.</a:t>
            </a:r>
            <a:endParaRPr sz="800"/>
          </a:p>
        </p:txBody>
      </p:sp>
      <p:sp>
        <p:nvSpPr>
          <p:cNvPr id="204" name="Google Shape;204;p29"/>
          <p:cNvSpPr txBox="1"/>
          <p:nvPr/>
        </p:nvSpPr>
        <p:spPr>
          <a:xfrm>
            <a:off x="5302498" y="3366725"/>
            <a:ext cx="26655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sz="1300">
                <a:solidFill>
                  <a:srgbClr val="FFFFFF"/>
                </a:solidFill>
                <a:latin typeface="Helvetica Neue"/>
                <a:ea typeface="Helvetica Neue"/>
                <a:cs typeface="Helvetica Neue"/>
                <a:sym typeface="Helvetica Neue"/>
              </a:rPr>
              <a:t>Pitch Model</a:t>
            </a:r>
            <a:endParaRPr sz="700"/>
          </a:p>
        </p:txBody>
      </p:sp>
      <p:sp>
        <p:nvSpPr>
          <p:cNvPr id="205" name="Google Shape;205;p29"/>
          <p:cNvSpPr/>
          <p:nvPr/>
        </p:nvSpPr>
        <p:spPr>
          <a:xfrm flipH="1">
            <a:off x="7668423" y="1427243"/>
            <a:ext cx="961227" cy="115051"/>
          </a:xfrm>
          <a:custGeom>
            <a:rect b="b" l="l" r="r" t="t"/>
            <a:pathLst>
              <a:path extrusionOk="0" h="230101" w="1922453">
                <a:moveTo>
                  <a:pt x="1922453" y="0"/>
                </a:moveTo>
                <a:lnTo>
                  <a:pt x="0" y="0"/>
                </a:lnTo>
                <a:lnTo>
                  <a:pt x="0" y="230100"/>
                </a:lnTo>
                <a:lnTo>
                  <a:pt x="1922453" y="230100"/>
                </a:lnTo>
                <a:lnTo>
                  <a:pt x="1922453" y="0"/>
                </a:lnTo>
                <a:close/>
              </a:path>
            </a:pathLst>
          </a:custGeom>
          <a:blipFill rotWithShape="1">
            <a:blip r:embed="rId6">
              <a:alphaModFix/>
            </a:blip>
            <a:stretch>
              <a:fillRect b="0" l="0" r="0" t="0"/>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0"/>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sp>
        <p:nvSpPr>
          <p:cNvPr id="211" name="Google Shape;211;p30"/>
          <p:cNvSpPr/>
          <p:nvPr/>
        </p:nvSpPr>
        <p:spPr>
          <a:xfrm>
            <a:off x="514350" y="4524405"/>
            <a:ext cx="104079" cy="104079"/>
          </a:xfrm>
          <a:custGeom>
            <a:rect b="b" l="l" r="r" t="t"/>
            <a:pathLst>
              <a:path extrusionOk="0" h="208158" w="208158">
                <a:moveTo>
                  <a:pt x="0" y="0"/>
                </a:moveTo>
                <a:lnTo>
                  <a:pt x="208158" y="0"/>
                </a:lnTo>
                <a:lnTo>
                  <a:pt x="208158" y="208158"/>
                </a:lnTo>
                <a:lnTo>
                  <a:pt x="0" y="208158"/>
                </a:lnTo>
                <a:lnTo>
                  <a:pt x="0" y="0"/>
                </a:lnTo>
                <a:close/>
              </a:path>
            </a:pathLst>
          </a:custGeom>
          <a:blipFill rotWithShape="1">
            <a:blip r:embed="rId4">
              <a:alphaModFix/>
            </a:blip>
            <a:stretch>
              <a:fillRect b="0" l="0" r="0" t="0"/>
            </a:stretch>
          </a:blipFill>
          <a:ln>
            <a:noFill/>
          </a:ln>
        </p:spPr>
      </p:sp>
      <p:sp>
        <p:nvSpPr>
          <p:cNvPr id="212" name="Google Shape;212;p30"/>
          <p:cNvSpPr txBox="1"/>
          <p:nvPr/>
        </p:nvSpPr>
        <p:spPr>
          <a:xfrm>
            <a:off x="292250" y="2280650"/>
            <a:ext cx="4858500" cy="1607100"/>
          </a:xfrm>
          <a:prstGeom prst="rect">
            <a:avLst/>
          </a:prstGeom>
          <a:noFill/>
          <a:ln>
            <a:noFill/>
          </a:ln>
        </p:spPr>
        <p:txBody>
          <a:bodyPr anchorCtr="0" anchor="t" bIns="0" lIns="0" spcFirstLastPara="1" rIns="0" wrap="square" tIns="0">
            <a:spAutoFit/>
          </a:bodyPr>
          <a:lstStyle/>
          <a:p>
            <a:pPr indent="0" lvl="0" marL="0" marR="0" rtl="0" algn="l">
              <a:lnSpc>
                <a:spcPct val="87002"/>
              </a:lnSpc>
              <a:spcBef>
                <a:spcPts val="0"/>
              </a:spcBef>
              <a:spcAft>
                <a:spcPts val="0"/>
              </a:spcAft>
              <a:buNone/>
            </a:pPr>
            <a:r>
              <a:rPr lang="en-GB" sz="3500">
                <a:solidFill>
                  <a:srgbClr val="FFFFFF"/>
                </a:solidFill>
              </a:rPr>
              <a:t>HOMOGRAPHY AND FIELD PROJECTION</a:t>
            </a:r>
            <a:endParaRPr sz="3500">
              <a:solidFill>
                <a:srgbClr val="FFFFFF"/>
              </a:solidFill>
            </a:endParaRPr>
          </a:p>
          <a:p>
            <a:pPr indent="0" lvl="0" marL="0" marR="0" rtl="0" algn="l">
              <a:lnSpc>
                <a:spcPct val="87002"/>
              </a:lnSpc>
              <a:spcBef>
                <a:spcPts val="0"/>
              </a:spcBef>
              <a:spcAft>
                <a:spcPts val="0"/>
              </a:spcAft>
              <a:buNone/>
            </a:pPr>
            <a:r>
              <a:t/>
            </a:r>
            <a:endParaRPr sz="5000">
              <a:solidFill>
                <a:srgbClr val="FFFFFF"/>
              </a:solidFill>
            </a:endParaRPr>
          </a:p>
        </p:txBody>
      </p:sp>
      <p:sp>
        <p:nvSpPr>
          <p:cNvPr id="213" name="Google Shape;213;p30"/>
          <p:cNvSpPr txBox="1"/>
          <p:nvPr/>
        </p:nvSpPr>
        <p:spPr>
          <a:xfrm>
            <a:off x="5421125" y="1832275"/>
            <a:ext cx="3404700" cy="26598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lang="en-GB" sz="900">
                <a:solidFill>
                  <a:srgbClr val="FFFFFF"/>
                </a:solidFill>
                <a:latin typeface="Helvetica Neue"/>
                <a:ea typeface="Helvetica Neue"/>
                <a:cs typeface="Helvetica Neue"/>
                <a:sym typeface="Helvetica Neue"/>
              </a:rPr>
              <a:t>To enable accurate spatial analysis, we computed a homography transformation by identifying and matching key pitch landmarks—such as penalty boxes, center circle, and touchlines—between the image space (camera view) and a standardized 2D pitch model. This transformation was encapsulated in a dedicated ViewTransformer class, which handled the conversion of player positions and bounding boxes from pixel coordinates into pitch coordinates. </a:t>
            </a:r>
            <a:endParaRPr sz="900">
              <a:solidFill>
                <a:srgbClr val="FFFFFF"/>
              </a:solidFill>
              <a:latin typeface="Helvetica Neue"/>
              <a:ea typeface="Helvetica Neue"/>
              <a:cs typeface="Helvetica Neue"/>
              <a:sym typeface="Helvetica Neue"/>
            </a:endParaRPr>
          </a:p>
          <a:p>
            <a:pPr indent="0" lvl="0" marL="0" marR="0" rtl="0" algn="just">
              <a:lnSpc>
                <a:spcPct val="130000"/>
              </a:lnSpc>
              <a:spcBef>
                <a:spcPts val="0"/>
              </a:spcBef>
              <a:spcAft>
                <a:spcPts val="0"/>
              </a:spcAft>
              <a:buNone/>
            </a:pPr>
            <a:r>
              <a:t/>
            </a:r>
            <a:endParaRPr sz="900">
              <a:solidFill>
                <a:srgbClr val="FFFFFF"/>
              </a:solidFill>
              <a:latin typeface="Helvetica Neue"/>
              <a:ea typeface="Helvetica Neue"/>
              <a:cs typeface="Helvetica Neue"/>
              <a:sym typeface="Helvetica Neue"/>
            </a:endParaRPr>
          </a:p>
          <a:p>
            <a:pPr indent="0" lvl="0" marL="0" marR="0" rtl="0" algn="just">
              <a:lnSpc>
                <a:spcPct val="130000"/>
              </a:lnSpc>
              <a:spcBef>
                <a:spcPts val="0"/>
              </a:spcBef>
              <a:spcAft>
                <a:spcPts val="0"/>
              </a:spcAft>
              <a:buNone/>
            </a:pPr>
            <a:r>
              <a:rPr lang="en-GB" sz="900">
                <a:solidFill>
                  <a:srgbClr val="FFFFFF"/>
                </a:solidFill>
                <a:latin typeface="Helvetica Neue"/>
                <a:ea typeface="Helvetica Neue"/>
                <a:cs typeface="Helvetica Neue"/>
                <a:sym typeface="Helvetica Neue"/>
              </a:rPr>
              <a:t>As a result, all detected entities could be projected onto a static top-down pitch representation, effectively decoupling the analysis from camera motion, angle, and zoom. This projection allowed for consistent, metric-space reasoning across frames, enabling downstream tasks such as player tracking, heatmap generation, team formation analysis, and spatial statistics.</a:t>
            </a:r>
            <a:endParaRPr sz="900"/>
          </a:p>
        </p:txBody>
      </p:sp>
      <p:sp>
        <p:nvSpPr>
          <p:cNvPr id="214" name="Google Shape;214;p30"/>
          <p:cNvSpPr txBox="1"/>
          <p:nvPr/>
        </p:nvSpPr>
        <p:spPr>
          <a:xfrm>
            <a:off x="696702" y="4514215"/>
            <a:ext cx="670200" cy="1077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0" i="0" lang="en-GB" sz="700" u="none" cap="none" strike="noStrike">
                <a:solidFill>
                  <a:srgbClr val="FFFFFF"/>
                </a:solidFill>
                <a:latin typeface="Helvetica Neue"/>
                <a:ea typeface="Helvetica Neue"/>
                <a:cs typeface="Helvetica Neue"/>
                <a:sym typeface="Helvetica Neue"/>
              </a:rPr>
              <a:t>Liceria &amp; Co.</a:t>
            </a:r>
            <a:endParaRPr sz="700"/>
          </a:p>
        </p:txBody>
      </p:sp>
      <p:cxnSp>
        <p:nvCxnSpPr>
          <p:cNvPr id="215" name="Google Shape;215;p30"/>
          <p:cNvCxnSpPr/>
          <p:nvPr/>
        </p:nvCxnSpPr>
        <p:spPr>
          <a:xfrm>
            <a:off x="0" y="523875"/>
            <a:ext cx="9144000" cy="0"/>
          </a:xfrm>
          <a:prstGeom prst="straightConnector1">
            <a:avLst/>
          </a:prstGeom>
          <a:noFill/>
          <a:ln cap="flat" cmpd="sng" w="9525">
            <a:solidFill>
              <a:srgbClr val="FFFFFF"/>
            </a:solidFill>
            <a:prstDash val="solid"/>
            <a:round/>
            <a:headEnd len="sm" w="sm" type="none"/>
            <a:tailEnd len="sm" w="sm" type="none"/>
          </a:ln>
        </p:spPr>
      </p:cxnSp>
      <p:sp>
        <p:nvSpPr>
          <p:cNvPr id="216" name="Google Shape;216;p30"/>
          <p:cNvSpPr/>
          <p:nvPr/>
        </p:nvSpPr>
        <p:spPr>
          <a:xfrm flipH="1">
            <a:off x="7668423" y="1427243"/>
            <a:ext cx="961227" cy="115051"/>
          </a:xfrm>
          <a:custGeom>
            <a:rect b="b" l="l" r="r" t="t"/>
            <a:pathLst>
              <a:path extrusionOk="0" h="230101" w="1922453">
                <a:moveTo>
                  <a:pt x="1922453" y="0"/>
                </a:moveTo>
                <a:lnTo>
                  <a:pt x="0" y="0"/>
                </a:lnTo>
                <a:lnTo>
                  <a:pt x="0" y="230100"/>
                </a:lnTo>
                <a:lnTo>
                  <a:pt x="1922453" y="230100"/>
                </a:lnTo>
                <a:lnTo>
                  <a:pt x="1922453" y="0"/>
                </a:lnTo>
                <a:close/>
              </a:path>
            </a:pathLst>
          </a:custGeom>
          <a:blipFill rotWithShape="1">
            <a:blip r:embed="rId5">
              <a:alphaModFix/>
            </a:blip>
            <a:stretch>
              <a:fillRect b="0" l="0" r="0" t="0"/>
            </a:stretch>
          </a:blipFill>
          <a:ln>
            <a:noFill/>
          </a:ln>
        </p:spPr>
      </p:sp>
      <p:sp>
        <p:nvSpPr>
          <p:cNvPr id="217" name="Google Shape;217;p30"/>
          <p:cNvSpPr/>
          <p:nvPr/>
        </p:nvSpPr>
        <p:spPr>
          <a:xfrm>
            <a:off x="2199150" y="0"/>
            <a:ext cx="4778100" cy="1958100"/>
          </a:xfrm>
          <a:prstGeom prst="rect">
            <a:avLst/>
          </a:prstGeom>
          <a:solidFill>
            <a:srgbClr val="000000">
              <a:alpha val="0"/>
            </a:srgbClr>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218" name="Google Shape;218;p30" title="Screenshot from 2025-05-19 16-44-18.png"/>
          <p:cNvPicPr preferRelativeResize="0"/>
          <p:nvPr/>
        </p:nvPicPr>
        <p:blipFill>
          <a:blip r:embed="rId6">
            <a:alphaModFix/>
          </a:blip>
          <a:stretch>
            <a:fillRect/>
          </a:stretch>
        </p:blipFill>
        <p:spPr>
          <a:xfrm>
            <a:off x="2579050" y="60900"/>
            <a:ext cx="4069502" cy="1644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1"/>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20"/>
            </a:stretch>
          </a:blipFill>
          <a:ln>
            <a:noFill/>
          </a:ln>
        </p:spPr>
      </p:sp>
      <p:sp>
        <p:nvSpPr>
          <p:cNvPr id="224" name="Google Shape;224;p31"/>
          <p:cNvSpPr txBox="1"/>
          <p:nvPr/>
        </p:nvSpPr>
        <p:spPr>
          <a:xfrm>
            <a:off x="4931625" y="523875"/>
            <a:ext cx="3879600" cy="924000"/>
          </a:xfrm>
          <a:prstGeom prst="rect">
            <a:avLst/>
          </a:prstGeom>
          <a:noFill/>
          <a:ln>
            <a:noFill/>
          </a:ln>
        </p:spPr>
        <p:txBody>
          <a:bodyPr anchorCtr="0" anchor="t" bIns="0" lIns="0" spcFirstLastPara="1" rIns="0" wrap="square" tIns="0">
            <a:spAutoFit/>
          </a:bodyPr>
          <a:lstStyle/>
          <a:p>
            <a:pPr indent="0" lvl="0" marL="0" marR="0" rtl="0" algn="l">
              <a:lnSpc>
                <a:spcPct val="86997"/>
              </a:lnSpc>
              <a:spcBef>
                <a:spcPts val="0"/>
              </a:spcBef>
              <a:spcAft>
                <a:spcPts val="0"/>
              </a:spcAft>
              <a:buNone/>
            </a:pPr>
            <a:r>
              <a:rPr lang="en-GB" sz="3100">
                <a:solidFill>
                  <a:srgbClr val="FFFFFF"/>
                </a:solidFill>
              </a:rPr>
              <a:t>TEAM </a:t>
            </a:r>
            <a:r>
              <a:rPr lang="en-GB" sz="3100">
                <a:solidFill>
                  <a:srgbClr val="FFFFFF"/>
                </a:solidFill>
              </a:rPr>
              <a:t>POSSESSION</a:t>
            </a:r>
            <a:endParaRPr sz="3100">
              <a:solidFill>
                <a:srgbClr val="FFFFFF"/>
              </a:solidFill>
            </a:endParaRPr>
          </a:p>
          <a:p>
            <a:pPr indent="0" lvl="0" marL="0" marR="0" rtl="0" algn="l">
              <a:lnSpc>
                <a:spcPct val="86997"/>
              </a:lnSpc>
              <a:spcBef>
                <a:spcPts val="0"/>
              </a:spcBef>
              <a:spcAft>
                <a:spcPts val="0"/>
              </a:spcAft>
              <a:buNone/>
            </a:pPr>
            <a:r>
              <a:t/>
            </a:r>
            <a:endParaRPr sz="3800">
              <a:solidFill>
                <a:srgbClr val="FFFFFF"/>
              </a:solidFill>
            </a:endParaRPr>
          </a:p>
        </p:txBody>
      </p:sp>
      <p:sp>
        <p:nvSpPr>
          <p:cNvPr id="225" name="Google Shape;225;p31"/>
          <p:cNvSpPr txBox="1"/>
          <p:nvPr/>
        </p:nvSpPr>
        <p:spPr>
          <a:xfrm>
            <a:off x="505950" y="3106200"/>
            <a:ext cx="18246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sz="1300">
                <a:solidFill>
                  <a:srgbClr val="FFFFFF"/>
                </a:solidFill>
                <a:latin typeface="Helvetica Neue"/>
                <a:ea typeface="Helvetica Neue"/>
                <a:cs typeface="Helvetica Neue"/>
                <a:sym typeface="Helvetica Neue"/>
              </a:rPr>
              <a:t>SMOOTHING AND CENTROIDS</a:t>
            </a:r>
            <a:endParaRPr sz="700"/>
          </a:p>
        </p:txBody>
      </p:sp>
      <p:sp>
        <p:nvSpPr>
          <p:cNvPr id="226" name="Google Shape;226;p31"/>
          <p:cNvSpPr txBox="1"/>
          <p:nvPr/>
        </p:nvSpPr>
        <p:spPr>
          <a:xfrm>
            <a:off x="7959482" y="4513583"/>
            <a:ext cx="670168" cy="114902"/>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0" i="0" lang="en-GB" sz="700" u="none" cap="none" strike="noStrike">
                <a:solidFill>
                  <a:srgbClr val="FFFFFF"/>
                </a:solidFill>
                <a:latin typeface="Helvetica Neue"/>
                <a:ea typeface="Helvetica Neue"/>
                <a:cs typeface="Helvetica Neue"/>
                <a:sym typeface="Helvetica Neue"/>
              </a:rPr>
              <a:t>Liceria &amp; Co.</a:t>
            </a:r>
            <a:endParaRPr sz="700"/>
          </a:p>
        </p:txBody>
      </p:sp>
      <p:sp>
        <p:nvSpPr>
          <p:cNvPr id="227" name="Google Shape;227;p31"/>
          <p:cNvSpPr/>
          <p:nvPr/>
        </p:nvSpPr>
        <p:spPr>
          <a:xfrm>
            <a:off x="8525571" y="4523773"/>
            <a:ext cx="104079" cy="104079"/>
          </a:xfrm>
          <a:custGeom>
            <a:rect b="b" l="l" r="r" t="t"/>
            <a:pathLst>
              <a:path extrusionOk="0" h="208158" w="208158">
                <a:moveTo>
                  <a:pt x="0" y="0"/>
                </a:moveTo>
                <a:lnTo>
                  <a:pt x="208158" y="0"/>
                </a:lnTo>
                <a:lnTo>
                  <a:pt x="208158" y="208158"/>
                </a:lnTo>
                <a:lnTo>
                  <a:pt x="0" y="208158"/>
                </a:lnTo>
                <a:lnTo>
                  <a:pt x="0" y="0"/>
                </a:lnTo>
                <a:close/>
              </a:path>
            </a:pathLst>
          </a:custGeom>
          <a:blipFill rotWithShape="1">
            <a:blip r:embed="rId4">
              <a:alphaModFix/>
            </a:blip>
            <a:stretch>
              <a:fillRect b="0" l="0" r="0" t="0"/>
            </a:stretch>
          </a:blipFill>
          <a:ln>
            <a:noFill/>
          </a:ln>
        </p:spPr>
      </p:sp>
      <p:cxnSp>
        <p:nvCxnSpPr>
          <p:cNvPr id="228" name="Google Shape;228;p31"/>
          <p:cNvCxnSpPr/>
          <p:nvPr/>
        </p:nvCxnSpPr>
        <p:spPr>
          <a:xfrm>
            <a:off x="-5114" y="18316"/>
            <a:ext cx="8156397" cy="5125184"/>
          </a:xfrm>
          <a:prstGeom prst="straightConnector1">
            <a:avLst/>
          </a:prstGeom>
          <a:noFill/>
          <a:ln cap="flat" cmpd="sng" w="9525">
            <a:solidFill>
              <a:srgbClr val="FFFFFF"/>
            </a:solidFill>
            <a:prstDash val="solid"/>
            <a:round/>
            <a:headEnd len="sm" w="sm" type="none"/>
            <a:tailEnd len="sm" w="sm" type="none"/>
          </a:ln>
        </p:spPr>
      </p:cxnSp>
      <p:grpSp>
        <p:nvGrpSpPr>
          <p:cNvPr id="229" name="Google Shape;229;p31"/>
          <p:cNvGrpSpPr/>
          <p:nvPr/>
        </p:nvGrpSpPr>
        <p:grpSpPr>
          <a:xfrm>
            <a:off x="2461708" y="1022341"/>
            <a:ext cx="2557150" cy="2557150"/>
            <a:chOff x="0" y="0"/>
            <a:chExt cx="812800" cy="812800"/>
          </a:xfrm>
        </p:grpSpPr>
        <p:sp>
          <p:nvSpPr>
            <p:cNvPr id="230" name="Google Shape;230;p3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
              <a:solidFill>
                <a:srgbClr val="FFFFFF"/>
              </a:solidFill>
              <a:prstDash val="solid"/>
              <a:miter lim="8000"/>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31" name="Google Shape;231;p31"/>
            <p:cNvSpPr txBox="1"/>
            <p:nvPr/>
          </p:nvSpPr>
          <p:spPr>
            <a:xfrm>
              <a:off x="76200" y="57150"/>
              <a:ext cx="660400" cy="679450"/>
            </a:xfrm>
            <a:prstGeom prst="rect">
              <a:avLst/>
            </a:prstGeom>
            <a:noFill/>
            <a:ln>
              <a:noFill/>
            </a:ln>
          </p:spPr>
          <p:txBody>
            <a:bodyPr anchorCtr="0" anchor="ctr" bIns="25400" lIns="25400" spcFirstLastPara="1" rIns="25400" wrap="square" tIns="25400">
              <a:noAutofit/>
            </a:bodyPr>
            <a:lstStyle/>
            <a:p>
              <a:pPr indent="0" lvl="0" marL="0" marR="0" rtl="0" algn="ctr">
                <a:lnSpc>
                  <a:spcPct val="1011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32" name="Google Shape;232;p31"/>
          <p:cNvSpPr txBox="1"/>
          <p:nvPr/>
        </p:nvSpPr>
        <p:spPr>
          <a:xfrm>
            <a:off x="5505400" y="2067298"/>
            <a:ext cx="3124200" cy="10389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Font typeface="Arial"/>
              <a:buNone/>
            </a:pPr>
            <a:r>
              <a:rPr lang="en-GB" sz="900">
                <a:solidFill>
                  <a:srgbClr val="FFFFFF"/>
                </a:solidFill>
                <a:latin typeface="Helvetica Neue"/>
                <a:ea typeface="Helvetica Neue"/>
                <a:cs typeface="Helvetica Neue"/>
                <a:sym typeface="Helvetica Neue"/>
              </a:rPr>
              <a:t>This module uses a trained image-based classifier to predict each player's team based on their jersey crop, sampled periodically from the video. Crops are extracted from detection bounding boxes, and the model is fit on a balanced subset of frames to ensure reliable team color recognition.</a:t>
            </a:r>
            <a:endParaRPr sz="900"/>
          </a:p>
        </p:txBody>
      </p:sp>
      <p:sp>
        <p:nvSpPr>
          <p:cNvPr id="233" name="Google Shape;233;p31"/>
          <p:cNvSpPr txBox="1"/>
          <p:nvPr/>
        </p:nvSpPr>
        <p:spPr>
          <a:xfrm>
            <a:off x="5505386" y="1447875"/>
            <a:ext cx="31242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sz="1300">
                <a:solidFill>
                  <a:srgbClr val="FFFFFF"/>
                </a:solidFill>
                <a:latin typeface="Helvetica Neue"/>
                <a:ea typeface="Helvetica Neue"/>
                <a:cs typeface="Helvetica Neue"/>
                <a:sym typeface="Helvetica Neue"/>
              </a:rPr>
              <a:t>ASSIGNING TEAMS</a:t>
            </a:r>
            <a:endParaRPr sz="700"/>
          </a:p>
        </p:txBody>
      </p:sp>
      <p:sp>
        <p:nvSpPr>
          <p:cNvPr id="234" name="Google Shape;234;p31"/>
          <p:cNvSpPr txBox="1"/>
          <p:nvPr/>
        </p:nvSpPr>
        <p:spPr>
          <a:xfrm>
            <a:off x="2888999" y="3759989"/>
            <a:ext cx="1955700" cy="923400"/>
          </a:xfrm>
          <a:prstGeom prst="rect">
            <a:avLst/>
          </a:prstGeom>
          <a:noFill/>
          <a:ln>
            <a:noFill/>
          </a:ln>
        </p:spPr>
        <p:txBody>
          <a:bodyPr anchorCtr="0" anchor="t" bIns="0" lIns="0" spcFirstLastPara="1" rIns="0" wrap="square" tIns="0">
            <a:spAutoFit/>
          </a:bodyPr>
          <a:lstStyle/>
          <a:p>
            <a:pPr indent="0" lvl="0" marL="0" rtl="0" algn="just">
              <a:lnSpc>
                <a:spcPct val="130000"/>
              </a:lnSpc>
              <a:spcBef>
                <a:spcPts val="0"/>
              </a:spcBef>
              <a:spcAft>
                <a:spcPts val="0"/>
              </a:spcAft>
              <a:buClr>
                <a:schemeClr val="dk1"/>
              </a:buClr>
              <a:buFont typeface="Arial"/>
              <a:buNone/>
            </a:pPr>
            <a:r>
              <a:rPr lang="en-GB" sz="800">
                <a:solidFill>
                  <a:schemeClr val="lt1"/>
                </a:solidFill>
                <a:latin typeface="Helvetica Neue"/>
                <a:ea typeface="Helvetica Neue"/>
                <a:cs typeface="Helvetica Neue"/>
                <a:sym typeface="Helvetica Neue"/>
              </a:rPr>
              <a:t>Additionally, the module handles goalkeeper classification using spatial logic. Player positions are grouped per team and used to compute centroids.</a:t>
            </a:r>
            <a:endParaRPr sz="800">
              <a:solidFill>
                <a:schemeClr val="lt1"/>
              </a:solidFill>
              <a:latin typeface="Helvetica Neue"/>
              <a:ea typeface="Helvetica Neue"/>
              <a:cs typeface="Helvetica Neue"/>
              <a:sym typeface="Helvetica Neue"/>
            </a:endParaRPr>
          </a:p>
          <a:p>
            <a:pPr indent="0" lvl="0" marL="0" rtl="0" algn="just">
              <a:lnSpc>
                <a:spcPct val="130000"/>
              </a:lnSpc>
              <a:spcBef>
                <a:spcPts val="0"/>
              </a:spcBef>
              <a:spcAft>
                <a:spcPts val="0"/>
              </a:spcAft>
              <a:buClr>
                <a:schemeClr val="dk1"/>
              </a:buClr>
              <a:buFont typeface="Arial"/>
              <a:buNone/>
            </a:pPr>
            <a:r>
              <a:t/>
            </a:r>
            <a:endParaRPr sz="800">
              <a:solidFill>
                <a:schemeClr val="lt1"/>
              </a:solidFill>
              <a:latin typeface="Helvetica Neue"/>
              <a:ea typeface="Helvetica Neue"/>
              <a:cs typeface="Helvetica Neue"/>
              <a:sym typeface="Helvetica Neue"/>
            </a:endParaRPr>
          </a:p>
          <a:p>
            <a:pPr indent="0" lvl="0" marL="0" marR="0" rtl="0" algn="just">
              <a:lnSpc>
                <a:spcPct val="130000"/>
              </a:lnSpc>
              <a:spcBef>
                <a:spcPts val="0"/>
              </a:spcBef>
              <a:spcAft>
                <a:spcPts val="0"/>
              </a:spcAft>
              <a:buNone/>
            </a:pPr>
            <a:r>
              <a:t/>
            </a:r>
            <a:endParaRPr sz="800">
              <a:solidFill>
                <a:srgbClr val="FFFFFF"/>
              </a:solidFill>
              <a:latin typeface="Helvetica Neue"/>
              <a:ea typeface="Helvetica Neue"/>
              <a:cs typeface="Helvetica Neue"/>
              <a:sym typeface="Helvetica Neue"/>
            </a:endParaRPr>
          </a:p>
        </p:txBody>
      </p:sp>
      <p:sp>
        <p:nvSpPr>
          <p:cNvPr id="235" name="Google Shape;235;p31"/>
          <p:cNvSpPr txBox="1"/>
          <p:nvPr/>
        </p:nvSpPr>
        <p:spPr>
          <a:xfrm>
            <a:off x="505938" y="3679906"/>
            <a:ext cx="1955700" cy="10836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lang="en-GB" sz="800">
                <a:solidFill>
                  <a:srgbClr val="FFFFFF"/>
                </a:solidFill>
                <a:latin typeface="Helvetica Neue"/>
                <a:ea typeface="Helvetica Neue"/>
                <a:cs typeface="Helvetica Neue"/>
                <a:sym typeface="Helvetica Neue"/>
              </a:rPr>
              <a:t>Team assignment benefits from temporal smoothing: a short history (deque of 3 frames) is maintained per player, and a majority vote is used to stabilize predictions over time - reducing flickering due to occlusion or misclassification.</a:t>
            </a:r>
            <a:endParaRPr sz="800">
              <a:solidFill>
                <a:srgbClr val="FFFFFF"/>
              </a:solidFill>
              <a:latin typeface="Helvetica Neue"/>
              <a:ea typeface="Helvetica Neue"/>
              <a:cs typeface="Helvetica Neue"/>
              <a:sym typeface="Helvetica Neue"/>
            </a:endParaRPr>
          </a:p>
          <a:p>
            <a:pPr indent="0" lvl="0" marL="0" marR="0" rtl="0" algn="just">
              <a:lnSpc>
                <a:spcPct val="130000"/>
              </a:lnSpc>
              <a:spcBef>
                <a:spcPts val="0"/>
              </a:spcBef>
              <a:spcAft>
                <a:spcPts val="0"/>
              </a:spcAft>
              <a:buNone/>
            </a:pPr>
            <a:r>
              <a:t/>
            </a:r>
            <a:endParaRPr sz="800">
              <a:solidFill>
                <a:srgbClr val="FFFFFF"/>
              </a:solidFill>
              <a:latin typeface="Helvetica Neue"/>
              <a:ea typeface="Helvetica Neue"/>
              <a:cs typeface="Helvetica Neue"/>
              <a:sym typeface="Helvetica Neue"/>
            </a:endParaRPr>
          </a:p>
        </p:txBody>
      </p:sp>
      <p:sp>
        <p:nvSpPr>
          <p:cNvPr id="236" name="Google Shape;236;p31"/>
          <p:cNvSpPr/>
          <p:nvPr/>
        </p:nvSpPr>
        <p:spPr>
          <a:xfrm>
            <a:off x="8329266" y="3279108"/>
            <a:ext cx="300384" cy="300384"/>
          </a:xfrm>
          <a:custGeom>
            <a:rect b="b" l="l" r="r" t="t"/>
            <a:pathLst>
              <a:path extrusionOk="0" h="600768" w="600768">
                <a:moveTo>
                  <a:pt x="0" y="0"/>
                </a:moveTo>
                <a:lnTo>
                  <a:pt x="600768" y="0"/>
                </a:lnTo>
                <a:lnTo>
                  <a:pt x="600768" y="600768"/>
                </a:lnTo>
                <a:lnTo>
                  <a:pt x="0" y="600768"/>
                </a:lnTo>
                <a:lnTo>
                  <a:pt x="0" y="0"/>
                </a:lnTo>
                <a:close/>
              </a:path>
            </a:pathLst>
          </a:custGeom>
          <a:blipFill rotWithShape="1">
            <a:blip r:embed="rId5">
              <a:alphaModFix/>
            </a:blip>
            <a:stretch>
              <a:fillRect b="0" l="0" r="0" t="0"/>
            </a:stretch>
          </a:blipFill>
          <a:ln>
            <a:noFill/>
          </a:ln>
        </p:spPr>
      </p:sp>
      <p:sp>
        <p:nvSpPr>
          <p:cNvPr id="237" name="Google Shape;237;p31"/>
          <p:cNvSpPr/>
          <p:nvPr/>
        </p:nvSpPr>
        <p:spPr>
          <a:xfrm flipH="1">
            <a:off x="514350" y="2753655"/>
            <a:ext cx="961227" cy="115051"/>
          </a:xfrm>
          <a:custGeom>
            <a:rect b="b" l="l" r="r" t="t"/>
            <a:pathLst>
              <a:path extrusionOk="0" h="230101" w="1922453">
                <a:moveTo>
                  <a:pt x="1922453" y="0"/>
                </a:moveTo>
                <a:lnTo>
                  <a:pt x="0" y="0"/>
                </a:lnTo>
                <a:lnTo>
                  <a:pt x="0" y="230100"/>
                </a:lnTo>
                <a:lnTo>
                  <a:pt x="1922453" y="230100"/>
                </a:lnTo>
                <a:lnTo>
                  <a:pt x="1922453" y="0"/>
                </a:lnTo>
                <a:close/>
              </a:path>
            </a:pathLst>
          </a:custGeom>
          <a:blipFill rotWithShape="1">
            <a:blip r:embed="rId6">
              <a:alphaModFix/>
            </a:blip>
            <a:stretch>
              <a:fillRect b="0" l="0" r="0" t="0"/>
            </a:stretch>
          </a:blipFill>
          <a:ln>
            <a:noFill/>
          </a:ln>
        </p:spPr>
      </p:sp>
      <p:pic>
        <p:nvPicPr>
          <p:cNvPr id="238" name="Google Shape;238;p31" title="cropped_image.jpg"/>
          <p:cNvPicPr preferRelativeResize="0"/>
          <p:nvPr/>
        </p:nvPicPr>
        <p:blipFill>
          <a:blip r:embed="rId7">
            <a:alphaModFix/>
          </a:blip>
          <a:stretch>
            <a:fillRect/>
          </a:stretch>
        </p:blipFill>
        <p:spPr>
          <a:xfrm>
            <a:off x="3405189" y="1623681"/>
            <a:ext cx="670175" cy="148251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cxnSp>
        <p:nvCxnSpPr>
          <p:cNvPr id="244" name="Google Shape;244;p32"/>
          <p:cNvCxnSpPr/>
          <p:nvPr/>
        </p:nvCxnSpPr>
        <p:spPr>
          <a:xfrm>
            <a:off x="0" y="1233469"/>
            <a:ext cx="9144000" cy="0"/>
          </a:xfrm>
          <a:prstGeom prst="straightConnector1">
            <a:avLst/>
          </a:prstGeom>
          <a:noFill/>
          <a:ln cap="flat" cmpd="sng" w="9525">
            <a:solidFill>
              <a:srgbClr val="FFFFFF"/>
            </a:solidFill>
            <a:prstDash val="solid"/>
            <a:round/>
            <a:headEnd len="sm" w="sm" type="none"/>
            <a:tailEnd len="sm" w="sm" type="none"/>
          </a:ln>
        </p:spPr>
      </p:cxnSp>
      <p:grpSp>
        <p:nvGrpSpPr>
          <p:cNvPr id="245" name="Google Shape;245;p32"/>
          <p:cNvGrpSpPr/>
          <p:nvPr/>
        </p:nvGrpSpPr>
        <p:grpSpPr>
          <a:xfrm>
            <a:off x="-1168647" y="-836041"/>
            <a:ext cx="4139021" cy="4139021"/>
            <a:chOff x="0" y="0"/>
            <a:chExt cx="812800" cy="812800"/>
          </a:xfrm>
        </p:grpSpPr>
        <p:sp>
          <p:nvSpPr>
            <p:cNvPr id="246" name="Google Shape;246;p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
              <a:solidFill>
                <a:srgbClr val="FFFFFF"/>
              </a:solidFill>
              <a:prstDash val="solid"/>
              <a:miter lim="8000"/>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47" name="Google Shape;247;p32"/>
            <p:cNvSpPr txBox="1"/>
            <p:nvPr/>
          </p:nvSpPr>
          <p:spPr>
            <a:xfrm>
              <a:off x="76200" y="57150"/>
              <a:ext cx="660300" cy="679500"/>
            </a:xfrm>
            <a:prstGeom prst="rect">
              <a:avLst/>
            </a:prstGeom>
            <a:noFill/>
            <a:ln>
              <a:noFill/>
            </a:ln>
          </p:spPr>
          <p:txBody>
            <a:bodyPr anchorCtr="0" anchor="ctr" bIns="25400" lIns="25400" spcFirstLastPara="1" rIns="25400" wrap="square" tIns="25400">
              <a:noAutofit/>
            </a:bodyPr>
            <a:lstStyle/>
            <a:p>
              <a:pPr indent="0" lvl="0" marL="0" marR="0" rtl="0" algn="ctr">
                <a:lnSpc>
                  <a:spcPct val="1011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48" name="Google Shape;248;p32"/>
          <p:cNvSpPr/>
          <p:nvPr/>
        </p:nvSpPr>
        <p:spPr>
          <a:xfrm rot="-5400000">
            <a:off x="584343" y="4362755"/>
            <a:ext cx="417732" cy="417732"/>
          </a:xfrm>
          <a:custGeom>
            <a:rect b="b" l="l" r="r" t="t"/>
            <a:pathLst>
              <a:path extrusionOk="0" h="835464" w="835464">
                <a:moveTo>
                  <a:pt x="0" y="0"/>
                </a:moveTo>
                <a:lnTo>
                  <a:pt x="835464" y="0"/>
                </a:lnTo>
                <a:lnTo>
                  <a:pt x="835464" y="835464"/>
                </a:lnTo>
                <a:lnTo>
                  <a:pt x="0" y="835464"/>
                </a:lnTo>
                <a:lnTo>
                  <a:pt x="0" y="0"/>
                </a:lnTo>
                <a:close/>
              </a:path>
            </a:pathLst>
          </a:custGeom>
          <a:blipFill rotWithShape="1">
            <a:blip r:embed="rId4">
              <a:alphaModFix/>
            </a:blip>
            <a:stretch>
              <a:fillRect b="0" l="0" r="0" t="0"/>
            </a:stretch>
          </a:blipFill>
          <a:ln>
            <a:noFill/>
          </a:ln>
        </p:spPr>
      </p:sp>
      <p:sp>
        <p:nvSpPr>
          <p:cNvPr id="249" name="Google Shape;249;p32"/>
          <p:cNvSpPr/>
          <p:nvPr/>
        </p:nvSpPr>
        <p:spPr>
          <a:xfrm flipH="1">
            <a:off x="7410617" y="612624"/>
            <a:ext cx="961227" cy="115051"/>
          </a:xfrm>
          <a:custGeom>
            <a:rect b="b" l="l" r="r" t="t"/>
            <a:pathLst>
              <a:path extrusionOk="0" h="230101" w="1922453">
                <a:moveTo>
                  <a:pt x="1922453" y="0"/>
                </a:moveTo>
                <a:lnTo>
                  <a:pt x="0" y="0"/>
                </a:lnTo>
                <a:lnTo>
                  <a:pt x="0" y="230101"/>
                </a:lnTo>
                <a:lnTo>
                  <a:pt x="1922453" y="230101"/>
                </a:lnTo>
                <a:lnTo>
                  <a:pt x="1922453" y="0"/>
                </a:lnTo>
                <a:close/>
              </a:path>
            </a:pathLst>
          </a:custGeom>
          <a:blipFill rotWithShape="1">
            <a:blip r:embed="rId5">
              <a:alphaModFix/>
            </a:blip>
            <a:stretch>
              <a:fillRect b="0" l="0" r="0" t="0"/>
            </a:stretch>
          </a:blipFill>
          <a:ln>
            <a:noFill/>
          </a:ln>
        </p:spPr>
      </p:sp>
      <p:sp>
        <p:nvSpPr>
          <p:cNvPr id="250" name="Google Shape;250;p32"/>
          <p:cNvSpPr txBox="1"/>
          <p:nvPr/>
        </p:nvSpPr>
        <p:spPr>
          <a:xfrm>
            <a:off x="3210300" y="1477800"/>
            <a:ext cx="5535000" cy="1606800"/>
          </a:xfrm>
          <a:prstGeom prst="rect">
            <a:avLst/>
          </a:prstGeom>
          <a:noFill/>
          <a:ln>
            <a:noFill/>
          </a:ln>
        </p:spPr>
        <p:txBody>
          <a:bodyPr anchorCtr="0" anchor="t" bIns="0" lIns="0" spcFirstLastPara="1" rIns="0" wrap="square" tIns="0">
            <a:spAutoFit/>
          </a:bodyPr>
          <a:lstStyle/>
          <a:p>
            <a:pPr indent="0" lvl="0" marL="0" marR="0" rtl="0" algn="l">
              <a:lnSpc>
                <a:spcPct val="86996"/>
              </a:lnSpc>
              <a:spcBef>
                <a:spcPts val="0"/>
              </a:spcBef>
              <a:spcAft>
                <a:spcPts val="0"/>
              </a:spcAft>
              <a:buNone/>
            </a:pPr>
            <a:r>
              <a:rPr lang="en-GB" sz="3000">
                <a:solidFill>
                  <a:srgbClr val="FFFFFF"/>
                </a:solidFill>
              </a:rPr>
              <a:t>BALL INTERPOLATION AND PLAYER ASSIGNMENT</a:t>
            </a:r>
            <a:endParaRPr sz="3000">
              <a:solidFill>
                <a:srgbClr val="FFFFFF"/>
              </a:solidFill>
            </a:endParaRPr>
          </a:p>
          <a:p>
            <a:pPr indent="0" lvl="0" marL="0" marR="0" rtl="0" algn="l">
              <a:lnSpc>
                <a:spcPct val="86996"/>
              </a:lnSpc>
              <a:spcBef>
                <a:spcPts val="0"/>
              </a:spcBef>
              <a:spcAft>
                <a:spcPts val="0"/>
              </a:spcAft>
              <a:buNone/>
            </a:pPr>
            <a:r>
              <a:t/>
            </a:r>
            <a:endParaRPr sz="3000">
              <a:solidFill>
                <a:srgbClr val="FFFFFF"/>
              </a:solidFill>
            </a:endParaRPr>
          </a:p>
          <a:p>
            <a:pPr indent="0" lvl="0" marL="0" marR="0" rtl="0" algn="l">
              <a:lnSpc>
                <a:spcPct val="86996"/>
              </a:lnSpc>
              <a:spcBef>
                <a:spcPts val="0"/>
              </a:spcBef>
              <a:spcAft>
                <a:spcPts val="0"/>
              </a:spcAft>
              <a:buNone/>
            </a:pPr>
            <a:r>
              <a:t/>
            </a:r>
            <a:endParaRPr sz="3000"/>
          </a:p>
        </p:txBody>
      </p:sp>
      <p:sp>
        <p:nvSpPr>
          <p:cNvPr id="251" name="Google Shape;251;p32"/>
          <p:cNvSpPr txBox="1"/>
          <p:nvPr/>
        </p:nvSpPr>
        <p:spPr>
          <a:xfrm>
            <a:off x="3210300" y="2528250"/>
            <a:ext cx="4892100" cy="21195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lang="en-GB" sz="900">
                <a:solidFill>
                  <a:srgbClr val="FFFFFF"/>
                </a:solidFill>
                <a:latin typeface="Helvetica Neue"/>
                <a:ea typeface="Helvetica Neue"/>
                <a:cs typeface="Helvetica Neue"/>
                <a:sym typeface="Helvetica Neue"/>
              </a:rPr>
              <a:t>To maintain consistent ball tracking across frames linear interpolation is used. The interpolate_ball_positions method reconstructs the ball’s trajectory by identifying its center in detected frames and linearly interpolating positions in frames with missing data. Fixed-size bounding boxes are then generated around the interpolated centers to preserve compatibility with downstream modules.</a:t>
            </a:r>
            <a:endParaRPr sz="900">
              <a:solidFill>
                <a:srgbClr val="FFFFFF"/>
              </a:solidFill>
              <a:latin typeface="Helvetica Neue"/>
              <a:ea typeface="Helvetica Neue"/>
              <a:cs typeface="Helvetica Neue"/>
              <a:sym typeface="Helvetica Neue"/>
            </a:endParaRPr>
          </a:p>
          <a:p>
            <a:pPr indent="0" lvl="0" marL="0" marR="0" rtl="0" algn="just">
              <a:lnSpc>
                <a:spcPct val="130000"/>
              </a:lnSpc>
              <a:spcBef>
                <a:spcPts val="0"/>
              </a:spcBef>
              <a:spcAft>
                <a:spcPts val="0"/>
              </a:spcAft>
              <a:buNone/>
            </a:pPr>
            <a:r>
              <a:t/>
            </a:r>
            <a:endParaRPr sz="900">
              <a:solidFill>
                <a:srgbClr val="FFFFFF"/>
              </a:solidFill>
              <a:latin typeface="Helvetica Neue"/>
              <a:ea typeface="Helvetica Neue"/>
              <a:cs typeface="Helvetica Neue"/>
              <a:sym typeface="Helvetica Neue"/>
            </a:endParaRPr>
          </a:p>
          <a:p>
            <a:pPr indent="0" lvl="0" marL="0" marR="0" rtl="0" algn="just">
              <a:lnSpc>
                <a:spcPct val="130000"/>
              </a:lnSpc>
              <a:spcBef>
                <a:spcPts val="0"/>
              </a:spcBef>
              <a:spcAft>
                <a:spcPts val="0"/>
              </a:spcAft>
              <a:buNone/>
            </a:pPr>
            <a:r>
              <a:rPr lang="en-GB" sz="900">
                <a:solidFill>
                  <a:srgbClr val="FFFFFF"/>
                </a:solidFill>
                <a:latin typeface="Helvetica Neue"/>
                <a:ea typeface="Helvetica Neue"/>
                <a:cs typeface="Helvetica Neue"/>
                <a:sym typeface="Helvetica Neue"/>
              </a:rPr>
              <a:t>Once the ball’s position is stabilized, it’s dynamically assigned to a player using the assign_ball_to_player method. This function calculates the distance between the ball’s center and each player’s foot position (extracted from the bounding box). The closest player is considered in control, provided the distance is below a predefined threshold (max_player_ball_distance).</a:t>
            </a:r>
            <a:endParaRPr sz="900">
              <a:solidFill>
                <a:srgbClr val="FFFFFF"/>
              </a:solidFill>
              <a:latin typeface="Helvetica Neue"/>
              <a:ea typeface="Helvetica Neue"/>
              <a:cs typeface="Helvetica Neue"/>
              <a:sym typeface="Helvetica Neue"/>
            </a:endParaRPr>
          </a:p>
          <a:p>
            <a:pPr indent="0" lvl="0" marL="0" marR="0" rtl="0" algn="just">
              <a:lnSpc>
                <a:spcPct val="130000"/>
              </a:lnSpc>
              <a:spcBef>
                <a:spcPts val="0"/>
              </a:spcBef>
              <a:spcAft>
                <a:spcPts val="0"/>
              </a:spcAft>
              <a:buNone/>
            </a:pPr>
            <a:r>
              <a:t/>
            </a:r>
            <a:endParaRPr sz="900">
              <a:solidFill>
                <a:srgbClr val="FFFFFF"/>
              </a:solidFill>
              <a:latin typeface="Helvetica Neue"/>
              <a:ea typeface="Helvetica Neue"/>
              <a:cs typeface="Helvetica Neue"/>
              <a:sym typeface="Helvetica Neue"/>
            </a:endParaRPr>
          </a:p>
        </p:txBody>
      </p:sp>
      <p:pic>
        <p:nvPicPr>
          <p:cNvPr id="252" name="Google Shape;252;p32" title="Screenshot from 2025-05-19 16-42-26.png"/>
          <p:cNvPicPr preferRelativeResize="0"/>
          <p:nvPr/>
        </p:nvPicPr>
        <p:blipFill rotWithShape="1">
          <a:blip r:embed="rId6">
            <a:alphaModFix/>
          </a:blip>
          <a:srcRect b="41398" l="10819" r="79805" t="40881"/>
          <a:stretch/>
        </p:blipFill>
        <p:spPr>
          <a:xfrm>
            <a:off x="1545700" y="612625"/>
            <a:ext cx="1424674" cy="1514776"/>
          </a:xfrm>
          <a:prstGeom prst="rect">
            <a:avLst/>
          </a:prstGeom>
          <a:noFill/>
          <a:ln>
            <a:noFill/>
          </a:ln>
        </p:spPr>
      </p:pic>
      <p:pic>
        <p:nvPicPr>
          <p:cNvPr id="253" name="Google Shape;253;p32" title="Screenshot from 2025-05-19 16-43-40.png"/>
          <p:cNvPicPr preferRelativeResize="0"/>
          <p:nvPr/>
        </p:nvPicPr>
        <p:blipFill rotWithShape="1">
          <a:blip r:embed="rId7">
            <a:alphaModFix/>
          </a:blip>
          <a:srcRect b="37044" l="49942" r="41405" t="46006"/>
          <a:stretch/>
        </p:blipFill>
        <p:spPr>
          <a:xfrm>
            <a:off x="277625" y="1518516"/>
            <a:ext cx="1553650" cy="171192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3"/>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grpSp>
        <p:nvGrpSpPr>
          <p:cNvPr id="259" name="Google Shape;259;p33"/>
          <p:cNvGrpSpPr/>
          <p:nvPr/>
        </p:nvGrpSpPr>
        <p:grpSpPr>
          <a:xfrm>
            <a:off x="2934769" y="934519"/>
            <a:ext cx="3274446" cy="3274446"/>
            <a:chOff x="0" y="0"/>
            <a:chExt cx="812800" cy="812800"/>
          </a:xfrm>
        </p:grpSpPr>
        <p:sp>
          <p:nvSpPr>
            <p:cNvPr id="260" name="Google Shape;260;p3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
              <a:solidFill>
                <a:srgbClr val="FFFFFF"/>
              </a:solidFill>
              <a:prstDash val="solid"/>
              <a:miter lim="8000"/>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61" name="Google Shape;261;p33"/>
            <p:cNvSpPr txBox="1"/>
            <p:nvPr/>
          </p:nvSpPr>
          <p:spPr>
            <a:xfrm>
              <a:off x="76200" y="57150"/>
              <a:ext cx="660300" cy="679500"/>
            </a:xfrm>
            <a:prstGeom prst="rect">
              <a:avLst/>
            </a:prstGeom>
            <a:noFill/>
            <a:ln>
              <a:noFill/>
            </a:ln>
          </p:spPr>
          <p:txBody>
            <a:bodyPr anchorCtr="0" anchor="ctr" bIns="25400" lIns="25400" spcFirstLastPara="1" rIns="25400" wrap="square" tIns="25400">
              <a:noAutofit/>
            </a:bodyPr>
            <a:lstStyle/>
            <a:p>
              <a:pPr indent="0" lvl="0" marL="0" marR="0" rtl="0" algn="ctr">
                <a:lnSpc>
                  <a:spcPct val="1011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62" name="Google Shape;262;p33"/>
          <p:cNvSpPr txBox="1"/>
          <p:nvPr/>
        </p:nvSpPr>
        <p:spPr>
          <a:xfrm>
            <a:off x="3265196" y="2404348"/>
            <a:ext cx="2613600" cy="334800"/>
          </a:xfrm>
          <a:prstGeom prst="rect">
            <a:avLst/>
          </a:prstGeom>
          <a:noFill/>
          <a:ln>
            <a:noFill/>
          </a:ln>
        </p:spPr>
        <p:txBody>
          <a:bodyPr anchorCtr="0" anchor="t" bIns="0" lIns="0" spcFirstLastPara="1" rIns="0" wrap="square" tIns="0">
            <a:spAutoFit/>
          </a:bodyPr>
          <a:lstStyle/>
          <a:p>
            <a:pPr indent="0" lvl="0" marL="0" marR="0" rtl="0" algn="ctr">
              <a:lnSpc>
                <a:spcPct val="86998"/>
              </a:lnSpc>
              <a:spcBef>
                <a:spcPts val="0"/>
              </a:spcBef>
              <a:spcAft>
                <a:spcPts val="0"/>
              </a:spcAft>
              <a:buNone/>
            </a:pPr>
            <a:r>
              <a:rPr lang="en-GB" sz="2500">
                <a:solidFill>
                  <a:srgbClr val="FFFFFF"/>
                </a:solidFill>
              </a:rPr>
              <a:t>VISUALIZATION</a:t>
            </a:r>
            <a:endParaRPr sz="700"/>
          </a:p>
        </p:txBody>
      </p:sp>
      <p:sp>
        <p:nvSpPr>
          <p:cNvPr id="263" name="Google Shape;263;p33"/>
          <p:cNvSpPr txBox="1"/>
          <p:nvPr/>
        </p:nvSpPr>
        <p:spPr>
          <a:xfrm>
            <a:off x="321475" y="1072850"/>
            <a:ext cx="2491200" cy="17085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lang="en-GB" sz="800">
                <a:solidFill>
                  <a:srgbClr val="FFFFFF"/>
                </a:solidFill>
                <a:latin typeface="Helvetica Neue"/>
                <a:ea typeface="Helvetica Neue"/>
                <a:cs typeface="Helvetica Neue"/>
                <a:sym typeface="Helvetica Neue"/>
              </a:rPr>
              <a:t>The 2D tactical board provides a clean and informative visualization of player and ball positions over time, projected onto a standardized static pitch. Each player is represented by a colored circle, with color indicating their assigned team, while referees are shown in gold and the ball is displayed in white. This abstraction removes the visual noise and camera motion present in broadcast footage, enabling clearer analysis of player spacing, team formations, and positional discipline. </a:t>
            </a:r>
            <a:endParaRPr sz="800">
              <a:solidFill>
                <a:srgbClr val="FFFFFF"/>
              </a:solidFill>
              <a:latin typeface="Helvetica Neue"/>
              <a:ea typeface="Helvetica Neue"/>
              <a:cs typeface="Helvetica Neue"/>
              <a:sym typeface="Helvetica Neue"/>
            </a:endParaRPr>
          </a:p>
          <a:p>
            <a:pPr indent="0" lvl="0" marL="0" marR="0" rtl="0" algn="just">
              <a:lnSpc>
                <a:spcPct val="130000"/>
              </a:lnSpc>
              <a:spcBef>
                <a:spcPts val="0"/>
              </a:spcBef>
              <a:spcAft>
                <a:spcPts val="0"/>
              </a:spcAft>
              <a:buClr>
                <a:srgbClr val="000000"/>
              </a:buClr>
              <a:buFont typeface="Arial"/>
              <a:buNone/>
            </a:pPr>
            <a:r>
              <a:t/>
            </a:r>
            <a:endParaRPr sz="700">
              <a:solidFill>
                <a:srgbClr val="FFFFFF"/>
              </a:solidFill>
              <a:latin typeface="Helvetica Neue"/>
              <a:ea typeface="Helvetica Neue"/>
              <a:cs typeface="Helvetica Neue"/>
              <a:sym typeface="Helvetica Neue"/>
            </a:endParaRPr>
          </a:p>
        </p:txBody>
      </p:sp>
      <p:sp>
        <p:nvSpPr>
          <p:cNvPr id="264" name="Google Shape;264;p33"/>
          <p:cNvSpPr txBox="1"/>
          <p:nvPr/>
        </p:nvSpPr>
        <p:spPr>
          <a:xfrm>
            <a:off x="321475" y="790911"/>
            <a:ext cx="20709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Font typeface="Arial"/>
              <a:buNone/>
            </a:pPr>
            <a:r>
              <a:rPr lang="en-GB" sz="1300">
                <a:solidFill>
                  <a:srgbClr val="FFFFFF"/>
                </a:solidFill>
                <a:latin typeface="Helvetica Neue"/>
                <a:ea typeface="Helvetica Neue"/>
                <a:cs typeface="Helvetica Neue"/>
                <a:sym typeface="Helvetica Neue"/>
              </a:rPr>
              <a:t>TACTICAL BOARD</a:t>
            </a:r>
            <a:endParaRPr sz="700"/>
          </a:p>
        </p:txBody>
      </p:sp>
      <p:cxnSp>
        <p:nvCxnSpPr>
          <p:cNvPr id="265" name="Google Shape;265;p33"/>
          <p:cNvCxnSpPr/>
          <p:nvPr/>
        </p:nvCxnSpPr>
        <p:spPr>
          <a:xfrm flipH="1">
            <a:off x="-35596" y="3362691"/>
            <a:ext cx="3177900" cy="1774800"/>
          </a:xfrm>
          <a:prstGeom prst="straightConnector1">
            <a:avLst/>
          </a:prstGeom>
          <a:noFill/>
          <a:ln cap="flat" cmpd="sng" w="9525">
            <a:solidFill>
              <a:srgbClr val="FFFFFF"/>
            </a:solidFill>
            <a:prstDash val="solid"/>
            <a:round/>
            <a:headEnd len="sm" w="sm" type="none"/>
            <a:tailEnd len="sm" w="sm" type="none"/>
          </a:ln>
        </p:spPr>
      </p:cxnSp>
      <p:cxnSp>
        <p:nvCxnSpPr>
          <p:cNvPr id="266" name="Google Shape;266;p33"/>
          <p:cNvCxnSpPr/>
          <p:nvPr/>
        </p:nvCxnSpPr>
        <p:spPr>
          <a:xfrm flipH="1">
            <a:off x="5982657" y="3553"/>
            <a:ext cx="3177900" cy="1774800"/>
          </a:xfrm>
          <a:prstGeom prst="straightConnector1">
            <a:avLst/>
          </a:prstGeom>
          <a:noFill/>
          <a:ln cap="flat" cmpd="sng" w="9525">
            <a:solidFill>
              <a:srgbClr val="FFFFFF"/>
            </a:solidFill>
            <a:prstDash val="solid"/>
            <a:round/>
            <a:headEnd len="sm" w="sm" type="none"/>
            <a:tailEnd len="sm" w="sm" type="none"/>
          </a:ln>
        </p:spPr>
      </p:cxnSp>
      <p:sp>
        <p:nvSpPr>
          <p:cNvPr id="267" name="Google Shape;267;p33"/>
          <p:cNvSpPr txBox="1"/>
          <p:nvPr/>
        </p:nvSpPr>
        <p:spPr>
          <a:xfrm>
            <a:off x="6480525" y="2538950"/>
            <a:ext cx="2316000" cy="17238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lang="en-GB" sz="800">
                <a:solidFill>
                  <a:srgbClr val="FFFFFF"/>
                </a:solidFill>
                <a:latin typeface="Helvetica Neue"/>
                <a:ea typeface="Helvetica Neue"/>
                <a:cs typeface="Helvetica Neue"/>
                <a:sym typeface="Helvetica Neue"/>
              </a:rPr>
              <a:t>To further enrich spatial understanding, Voronoi diagrams are generated using the pitch-projected positions of all players. These diagrams partition the pitch into zones of influence, where each region corresponds to the area closest to a particular player. This visualization layer is particularly useful for identifying which team controls various parts of the field at any given moment, revealing tactical aspects such as numerical overloads, pressing traps, compactness in defense, and vulnerabilities in formation.</a:t>
            </a:r>
            <a:endParaRPr sz="800"/>
          </a:p>
        </p:txBody>
      </p:sp>
      <p:sp>
        <p:nvSpPr>
          <p:cNvPr id="268" name="Google Shape;268;p33"/>
          <p:cNvSpPr txBox="1"/>
          <p:nvPr/>
        </p:nvSpPr>
        <p:spPr>
          <a:xfrm>
            <a:off x="6451851" y="2058600"/>
            <a:ext cx="22395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sz="1300">
                <a:solidFill>
                  <a:srgbClr val="FFFFFF"/>
                </a:solidFill>
                <a:latin typeface="Helvetica Neue"/>
                <a:ea typeface="Helvetica Neue"/>
                <a:cs typeface="Helvetica Neue"/>
                <a:sym typeface="Helvetica Neue"/>
              </a:rPr>
              <a:t>VORONOI CONTROL ZONES</a:t>
            </a:r>
            <a:endParaRPr sz="700"/>
          </a:p>
        </p:txBody>
      </p:sp>
      <p:sp>
        <p:nvSpPr>
          <p:cNvPr id="269" name="Google Shape;269;p33"/>
          <p:cNvSpPr/>
          <p:nvPr/>
        </p:nvSpPr>
        <p:spPr>
          <a:xfrm>
            <a:off x="6556894" y="514350"/>
            <a:ext cx="281089" cy="281089"/>
          </a:xfrm>
          <a:custGeom>
            <a:rect b="b" l="l" r="r" t="t"/>
            <a:pathLst>
              <a:path extrusionOk="0" h="562178" w="562178">
                <a:moveTo>
                  <a:pt x="0" y="0"/>
                </a:moveTo>
                <a:lnTo>
                  <a:pt x="562178" y="0"/>
                </a:lnTo>
                <a:lnTo>
                  <a:pt x="562178" y="562178"/>
                </a:lnTo>
                <a:lnTo>
                  <a:pt x="0" y="562178"/>
                </a:lnTo>
                <a:lnTo>
                  <a:pt x="0" y="0"/>
                </a:lnTo>
                <a:close/>
              </a:path>
            </a:pathLst>
          </a:custGeom>
          <a:blipFill rotWithShape="1">
            <a:blip r:embed="rId4">
              <a:alphaModFix/>
            </a:blip>
            <a:stretch>
              <a:fillRect b="0" l="0" r="0" t="0"/>
            </a:stretch>
          </a:blipFill>
          <a:ln>
            <a:noFill/>
          </a:ln>
        </p:spPr>
      </p:sp>
      <p:pic>
        <p:nvPicPr>
          <p:cNvPr id="270" name="Google Shape;270;p33" title="Screenshot from 2025-05-19 16-41-46.png"/>
          <p:cNvPicPr preferRelativeResize="0"/>
          <p:nvPr/>
        </p:nvPicPr>
        <p:blipFill>
          <a:blip r:embed="rId5">
            <a:alphaModFix/>
          </a:blip>
          <a:stretch>
            <a:fillRect/>
          </a:stretch>
        </p:blipFill>
        <p:spPr>
          <a:xfrm>
            <a:off x="6393236" y="514350"/>
            <a:ext cx="2540515" cy="1429051"/>
          </a:xfrm>
          <a:prstGeom prst="rect">
            <a:avLst/>
          </a:prstGeom>
          <a:noFill/>
          <a:ln>
            <a:noFill/>
          </a:ln>
        </p:spPr>
      </p:pic>
      <p:pic>
        <p:nvPicPr>
          <p:cNvPr id="271" name="Google Shape;271;p33" title="Screenshot from 2025-05-19 17-11-54.png"/>
          <p:cNvPicPr preferRelativeResize="0"/>
          <p:nvPr/>
        </p:nvPicPr>
        <p:blipFill>
          <a:blip r:embed="rId6">
            <a:alphaModFix/>
          </a:blip>
          <a:stretch>
            <a:fillRect/>
          </a:stretch>
        </p:blipFill>
        <p:spPr>
          <a:xfrm>
            <a:off x="321475" y="3318469"/>
            <a:ext cx="2491200" cy="140130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4"/>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20"/>
            </a:stretch>
          </a:blipFill>
          <a:ln>
            <a:noFill/>
          </a:ln>
        </p:spPr>
      </p:sp>
      <p:grpSp>
        <p:nvGrpSpPr>
          <p:cNvPr id="277" name="Google Shape;277;p34"/>
          <p:cNvGrpSpPr/>
          <p:nvPr/>
        </p:nvGrpSpPr>
        <p:grpSpPr>
          <a:xfrm>
            <a:off x="514350" y="478185"/>
            <a:ext cx="1653156" cy="1191989"/>
            <a:chOff x="0" y="-19050"/>
            <a:chExt cx="870798" cy="627879"/>
          </a:xfrm>
        </p:grpSpPr>
        <p:sp>
          <p:nvSpPr>
            <p:cNvPr id="278" name="Google Shape;278;p34"/>
            <p:cNvSpPr/>
            <p:nvPr/>
          </p:nvSpPr>
          <p:spPr>
            <a:xfrm>
              <a:off x="0" y="0"/>
              <a:ext cx="870798" cy="608829"/>
            </a:xfrm>
            <a:custGeom>
              <a:rect b="b" l="l" r="r" t="t"/>
              <a:pathLst>
                <a:path extrusionOk="0" h="608829" w="870798">
                  <a:moveTo>
                    <a:pt x="0" y="0"/>
                  </a:moveTo>
                  <a:lnTo>
                    <a:pt x="870798" y="0"/>
                  </a:lnTo>
                  <a:lnTo>
                    <a:pt x="870798" y="608829"/>
                  </a:lnTo>
                  <a:lnTo>
                    <a:pt x="0" y="608829"/>
                  </a:lnTo>
                  <a:close/>
                </a:path>
              </a:pathLst>
            </a:custGeom>
            <a:solidFill>
              <a:srgbClr val="5A7354"/>
            </a:solidFill>
            <a:ln>
              <a:noFill/>
            </a:ln>
          </p:spPr>
        </p:sp>
        <p:sp>
          <p:nvSpPr>
            <p:cNvPr id="279" name="Google Shape;279;p34"/>
            <p:cNvSpPr txBox="1"/>
            <p:nvPr/>
          </p:nvSpPr>
          <p:spPr>
            <a:xfrm>
              <a:off x="0" y="-19050"/>
              <a:ext cx="870798" cy="627879"/>
            </a:xfrm>
            <a:prstGeom prst="rect">
              <a:avLst/>
            </a:prstGeom>
            <a:noFill/>
            <a:ln>
              <a:noFill/>
            </a:ln>
          </p:spPr>
          <p:txBody>
            <a:bodyPr anchorCtr="0" anchor="ctr" bIns="25400" lIns="25400" spcFirstLastPara="1" rIns="25400" wrap="square" tIns="25400">
              <a:noAutofit/>
            </a:bodyPr>
            <a:lstStyle/>
            <a:p>
              <a:pPr indent="0" lvl="0" marL="0" marR="0" rtl="0" algn="ctr">
                <a:lnSpc>
                  <a:spcPct val="1011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80" name="Google Shape;280;p34"/>
          <p:cNvSpPr/>
          <p:nvPr/>
        </p:nvSpPr>
        <p:spPr>
          <a:xfrm>
            <a:off x="5455568" y="2917949"/>
            <a:ext cx="356803" cy="356804"/>
          </a:xfrm>
          <a:custGeom>
            <a:rect b="b" l="l" r="r" t="t"/>
            <a:pathLst>
              <a:path extrusionOk="0" h="713607" w="713607">
                <a:moveTo>
                  <a:pt x="0" y="0"/>
                </a:moveTo>
                <a:lnTo>
                  <a:pt x="713607" y="0"/>
                </a:lnTo>
                <a:lnTo>
                  <a:pt x="713607" y="713607"/>
                </a:lnTo>
                <a:lnTo>
                  <a:pt x="0" y="713607"/>
                </a:lnTo>
                <a:lnTo>
                  <a:pt x="0" y="0"/>
                </a:lnTo>
                <a:close/>
              </a:path>
            </a:pathLst>
          </a:custGeom>
          <a:blipFill rotWithShape="1">
            <a:blip r:embed="rId4">
              <a:alphaModFix/>
            </a:blip>
            <a:stretch>
              <a:fillRect b="0" l="0" r="0" t="0"/>
            </a:stretch>
          </a:blipFill>
          <a:ln>
            <a:noFill/>
          </a:ln>
        </p:spPr>
      </p:sp>
      <p:grpSp>
        <p:nvGrpSpPr>
          <p:cNvPr id="281" name="Google Shape;281;p34"/>
          <p:cNvGrpSpPr/>
          <p:nvPr/>
        </p:nvGrpSpPr>
        <p:grpSpPr>
          <a:xfrm>
            <a:off x="2662580" y="478185"/>
            <a:ext cx="1653123" cy="1191965"/>
            <a:chOff x="0" y="-19050"/>
            <a:chExt cx="870798" cy="627879"/>
          </a:xfrm>
        </p:grpSpPr>
        <p:sp>
          <p:nvSpPr>
            <p:cNvPr id="282" name="Google Shape;282;p34"/>
            <p:cNvSpPr/>
            <p:nvPr/>
          </p:nvSpPr>
          <p:spPr>
            <a:xfrm>
              <a:off x="0" y="0"/>
              <a:ext cx="870798" cy="608829"/>
            </a:xfrm>
            <a:custGeom>
              <a:rect b="b" l="l" r="r" t="t"/>
              <a:pathLst>
                <a:path extrusionOk="0" h="608829" w="870798">
                  <a:moveTo>
                    <a:pt x="0" y="0"/>
                  </a:moveTo>
                  <a:lnTo>
                    <a:pt x="870798" y="0"/>
                  </a:lnTo>
                  <a:lnTo>
                    <a:pt x="870798" y="608829"/>
                  </a:lnTo>
                  <a:lnTo>
                    <a:pt x="0" y="608829"/>
                  </a:lnTo>
                  <a:close/>
                </a:path>
              </a:pathLst>
            </a:custGeom>
            <a:solidFill>
              <a:srgbClr val="5A7354"/>
            </a:solidFill>
            <a:ln>
              <a:noFill/>
            </a:ln>
          </p:spPr>
        </p:sp>
        <p:sp>
          <p:nvSpPr>
            <p:cNvPr id="283" name="Google Shape;283;p34"/>
            <p:cNvSpPr txBox="1"/>
            <p:nvPr/>
          </p:nvSpPr>
          <p:spPr>
            <a:xfrm>
              <a:off x="0" y="-19050"/>
              <a:ext cx="870798" cy="627879"/>
            </a:xfrm>
            <a:prstGeom prst="rect">
              <a:avLst/>
            </a:prstGeom>
            <a:noFill/>
            <a:ln>
              <a:noFill/>
            </a:ln>
          </p:spPr>
          <p:txBody>
            <a:bodyPr anchorCtr="0" anchor="ctr" bIns="25400" lIns="25400" spcFirstLastPara="1" rIns="25400" wrap="square" tIns="25400">
              <a:noAutofit/>
            </a:bodyPr>
            <a:lstStyle/>
            <a:p>
              <a:pPr indent="0" lvl="0" marL="0" marR="0" rtl="0" algn="ctr">
                <a:lnSpc>
                  <a:spcPct val="1011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84" name="Google Shape;284;p34"/>
          <p:cNvGrpSpPr/>
          <p:nvPr/>
        </p:nvGrpSpPr>
        <p:grpSpPr>
          <a:xfrm>
            <a:off x="4810811" y="478185"/>
            <a:ext cx="1653123" cy="1191965"/>
            <a:chOff x="0" y="-19050"/>
            <a:chExt cx="870798" cy="627879"/>
          </a:xfrm>
        </p:grpSpPr>
        <p:sp>
          <p:nvSpPr>
            <p:cNvPr id="285" name="Google Shape;285;p34"/>
            <p:cNvSpPr/>
            <p:nvPr/>
          </p:nvSpPr>
          <p:spPr>
            <a:xfrm>
              <a:off x="0" y="0"/>
              <a:ext cx="870798" cy="608829"/>
            </a:xfrm>
            <a:custGeom>
              <a:rect b="b" l="l" r="r" t="t"/>
              <a:pathLst>
                <a:path extrusionOk="0" h="608829" w="870798">
                  <a:moveTo>
                    <a:pt x="0" y="0"/>
                  </a:moveTo>
                  <a:lnTo>
                    <a:pt x="870798" y="0"/>
                  </a:lnTo>
                  <a:lnTo>
                    <a:pt x="870798" y="608829"/>
                  </a:lnTo>
                  <a:lnTo>
                    <a:pt x="0" y="608829"/>
                  </a:lnTo>
                  <a:close/>
                </a:path>
              </a:pathLst>
            </a:custGeom>
            <a:solidFill>
              <a:srgbClr val="5A7354"/>
            </a:solidFill>
            <a:ln>
              <a:noFill/>
            </a:ln>
          </p:spPr>
        </p:sp>
        <p:sp>
          <p:nvSpPr>
            <p:cNvPr id="286" name="Google Shape;286;p34"/>
            <p:cNvSpPr txBox="1"/>
            <p:nvPr/>
          </p:nvSpPr>
          <p:spPr>
            <a:xfrm>
              <a:off x="0" y="-19050"/>
              <a:ext cx="870798" cy="627879"/>
            </a:xfrm>
            <a:prstGeom prst="rect">
              <a:avLst/>
            </a:prstGeom>
            <a:noFill/>
            <a:ln>
              <a:noFill/>
            </a:ln>
          </p:spPr>
          <p:txBody>
            <a:bodyPr anchorCtr="0" anchor="ctr" bIns="25400" lIns="25400" spcFirstLastPara="1" rIns="25400" wrap="square" tIns="25400">
              <a:noAutofit/>
            </a:bodyPr>
            <a:lstStyle/>
            <a:p>
              <a:pPr indent="0" lvl="0" marL="0" marR="0" rtl="0" algn="ctr">
                <a:lnSpc>
                  <a:spcPct val="1011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87" name="Google Shape;287;p34"/>
          <p:cNvGrpSpPr/>
          <p:nvPr/>
        </p:nvGrpSpPr>
        <p:grpSpPr>
          <a:xfrm>
            <a:off x="6959042" y="478185"/>
            <a:ext cx="1653157" cy="1191989"/>
            <a:chOff x="0" y="-19050"/>
            <a:chExt cx="870798" cy="627879"/>
          </a:xfrm>
        </p:grpSpPr>
        <p:sp>
          <p:nvSpPr>
            <p:cNvPr id="288" name="Google Shape;288;p34"/>
            <p:cNvSpPr/>
            <p:nvPr/>
          </p:nvSpPr>
          <p:spPr>
            <a:xfrm>
              <a:off x="0" y="0"/>
              <a:ext cx="870798" cy="608829"/>
            </a:xfrm>
            <a:custGeom>
              <a:rect b="b" l="l" r="r" t="t"/>
              <a:pathLst>
                <a:path extrusionOk="0" h="608829" w="870798">
                  <a:moveTo>
                    <a:pt x="0" y="0"/>
                  </a:moveTo>
                  <a:lnTo>
                    <a:pt x="870798" y="0"/>
                  </a:lnTo>
                  <a:lnTo>
                    <a:pt x="870798" y="608829"/>
                  </a:lnTo>
                  <a:lnTo>
                    <a:pt x="0" y="608829"/>
                  </a:lnTo>
                  <a:close/>
                </a:path>
              </a:pathLst>
            </a:custGeom>
            <a:solidFill>
              <a:srgbClr val="5A7354"/>
            </a:solidFill>
            <a:ln>
              <a:noFill/>
            </a:ln>
          </p:spPr>
        </p:sp>
        <p:sp>
          <p:nvSpPr>
            <p:cNvPr id="289" name="Google Shape;289;p34"/>
            <p:cNvSpPr txBox="1"/>
            <p:nvPr/>
          </p:nvSpPr>
          <p:spPr>
            <a:xfrm>
              <a:off x="0" y="-19050"/>
              <a:ext cx="870798" cy="627879"/>
            </a:xfrm>
            <a:prstGeom prst="rect">
              <a:avLst/>
            </a:prstGeom>
            <a:noFill/>
            <a:ln>
              <a:noFill/>
            </a:ln>
          </p:spPr>
          <p:txBody>
            <a:bodyPr anchorCtr="0" anchor="ctr" bIns="25400" lIns="25400" spcFirstLastPara="1" rIns="25400" wrap="square" tIns="25400">
              <a:noAutofit/>
            </a:bodyPr>
            <a:lstStyle/>
            <a:p>
              <a:pPr indent="0" lvl="0" marL="0" marR="0" rtl="0" algn="ctr">
                <a:lnSpc>
                  <a:spcPct val="1011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cxnSp>
        <p:nvCxnSpPr>
          <p:cNvPr id="290" name="Google Shape;290;p34"/>
          <p:cNvCxnSpPr/>
          <p:nvPr/>
        </p:nvCxnSpPr>
        <p:spPr>
          <a:xfrm>
            <a:off x="0" y="514350"/>
            <a:ext cx="9144000" cy="0"/>
          </a:xfrm>
          <a:prstGeom prst="straightConnector1">
            <a:avLst/>
          </a:prstGeom>
          <a:noFill/>
          <a:ln cap="flat" cmpd="sng" w="9525">
            <a:solidFill>
              <a:srgbClr val="FFFFFF"/>
            </a:solidFill>
            <a:prstDash val="solid"/>
            <a:round/>
            <a:headEnd len="sm" w="sm" type="none"/>
            <a:tailEnd len="sm" w="sm" type="none"/>
          </a:ln>
        </p:spPr>
      </p:cxnSp>
      <p:sp>
        <p:nvSpPr>
          <p:cNvPr id="291" name="Google Shape;291;p34"/>
          <p:cNvSpPr txBox="1"/>
          <p:nvPr/>
        </p:nvSpPr>
        <p:spPr>
          <a:xfrm>
            <a:off x="5455575" y="3516000"/>
            <a:ext cx="3333600" cy="1325700"/>
          </a:xfrm>
          <a:prstGeom prst="rect">
            <a:avLst/>
          </a:prstGeom>
          <a:noFill/>
          <a:ln>
            <a:noFill/>
          </a:ln>
        </p:spPr>
        <p:txBody>
          <a:bodyPr anchorCtr="0" anchor="t" bIns="0" lIns="0" spcFirstLastPara="1" rIns="0" wrap="square" tIns="0">
            <a:spAutoFit/>
          </a:bodyPr>
          <a:lstStyle/>
          <a:p>
            <a:pPr indent="0" lvl="0" marL="0" marR="0" rtl="0" algn="l">
              <a:lnSpc>
                <a:spcPct val="86996"/>
              </a:lnSpc>
              <a:spcBef>
                <a:spcPts val="0"/>
              </a:spcBef>
              <a:spcAft>
                <a:spcPts val="0"/>
              </a:spcAft>
              <a:buNone/>
            </a:pPr>
            <a:r>
              <a:rPr b="0" i="0" lang="en-GB" sz="3300" u="none" cap="none" strike="noStrike">
                <a:solidFill>
                  <a:srgbClr val="FFFFFF"/>
                </a:solidFill>
                <a:latin typeface="Arial"/>
                <a:ea typeface="Arial"/>
                <a:cs typeface="Arial"/>
                <a:sym typeface="Arial"/>
              </a:rPr>
              <a:t>FOOTBALL</a:t>
            </a:r>
            <a:r>
              <a:rPr lang="en-GB" sz="3300">
                <a:solidFill>
                  <a:srgbClr val="FFFFFF"/>
                </a:solidFill>
              </a:rPr>
              <a:t> ANALYSIS SYSTEM</a:t>
            </a:r>
            <a:endParaRPr sz="700"/>
          </a:p>
        </p:txBody>
      </p:sp>
      <p:sp>
        <p:nvSpPr>
          <p:cNvPr id="292" name="Google Shape;292;p34"/>
          <p:cNvSpPr txBox="1"/>
          <p:nvPr/>
        </p:nvSpPr>
        <p:spPr>
          <a:xfrm>
            <a:off x="514350" y="2941750"/>
            <a:ext cx="12786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sz="1300">
                <a:solidFill>
                  <a:srgbClr val="FFFFFF"/>
                </a:solidFill>
                <a:latin typeface="Helvetica Neue"/>
                <a:ea typeface="Helvetica Neue"/>
                <a:cs typeface="Helvetica Neue"/>
                <a:sym typeface="Helvetica Neue"/>
              </a:rPr>
              <a:t>MAIN VIDEO VISUALIZATION</a:t>
            </a:r>
            <a:endParaRPr sz="700"/>
          </a:p>
        </p:txBody>
      </p:sp>
      <p:sp>
        <p:nvSpPr>
          <p:cNvPr id="293" name="Google Shape;293;p34"/>
          <p:cNvSpPr txBox="1"/>
          <p:nvPr/>
        </p:nvSpPr>
        <p:spPr>
          <a:xfrm>
            <a:off x="1943424" y="2184525"/>
            <a:ext cx="3026400" cy="23643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lang="en-GB" sz="800">
                <a:solidFill>
                  <a:srgbClr val="FFFFFF"/>
                </a:solidFill>
                <a:latin typeface="Helvetica Neue"/>
                <a:ea typeface="Helvetica Neue"/>
                <a:cs typeface="Helvetica Neue"/>
                <a:sym typeface="Helvetica Neue"/>
              </a:rPr>
              <a:t>In addition to the abstract tactical board, the original broadcast video feed is augmented with overlays to maintain visual context. Ellipses are drawn around players, goalkeepers, referees, and the ball, each with distinct styling to differentiate roles. </a:t>
            </a:r>
            <a:endParaRPr sz="800">
              <a:solidFill>
                <a:srgbClr val="FFFFFF"/>
              </a:solidFill>
              <a:latin typeface="Helvetica Neue"/>
              <a:ea typeface="Helvetica Neue"/>
              <a:cs typeface="Helvetica Neue"/>
              <a:sym typeface="Helvetica Neue"/>
            </a:endParaRPr>
          </a:p>
          <a:p>
            <a:pPr indent="0" lvl="0" marL="0" marR="0" rtl="0" algn="just">
              <a:lnSpc>
                <a:spcPct val="130000"/>
              </a:lnSpc>
              <a:spcBef>
                <a:spcPts val="0"/>
              </a:spcBef>
              <a:spcAft>
                <a:spcPts val="0"/>
              </a:spcAft>
              <a:buNone/>
            </a:pPr>
            <a:r>
              <a:rPr lang="en-GB" sz="800">
                <a:solidFill>
                  <a:srgbClr val="FFFFFF"/>
                </a:solidFill>
                <a:latin typeface="Helvetica Neue"/>
                <a:ea typeface="Helvetica Neue"/>
                <a:cs typeface="Helvetica Neue"/>
                <a:sym typeface="Helvetica Neue"/>
              </a:rPr>
              <a:t>These overlays complement the raw footage by providing immediate visual cues about entity classification and positioning, allowing observers to connect model predictions back to the real-world scene. Furthermore, the system displays current team possession as an on-screen label, helping track the flow of the game. </a:t>
            </a:r>
            <a:endParaRPr sz="800">
              <a:solidFill>
                <a:srgbClr val="FFFFFF"/>
              </a:solidFill>
              <a:latin typeface="Helvetica Neue"/>
              <a:ea typeface="Helvetica Neue"/>
              <a:cs typeface="Helvetica Neue"/>
              <a:sym typeface="Helvetica Neue"/>
            </a:endParaRPr>
          </a:p>
          <a:p>
            <a:pPr indent="0" lvl="0" marL="0" marR="0" rtl="0" algn="just">
              <a:lnSpc>
                <a:spcPct val="130000"/>
              </a:lnSpc>
              <a:spcBef>
                <a:spcPts val="0"/>
              </a:spcBef>
              <a:spcAft>
                <a:spcPts val="0"/>
              </a:spcAft>
              <a:buNone/>
            </a:pPr>
            <a:r>
              <a:rPr lang="en-GB" sz="800">
                <a:solidFill>
                  <a:srgbClr val="FFFFFF"/>
                </a:solidFill>
                <a:latin typeface="Helvetica Neue"/>
                <a:ea typeface="Helvetica Neue"/>
                <a:cs typeface="Helvetica Neue"/>
                <a:sym typeface="Helvetica Neue"/>
              </a:rPr>
              <a:t>A dynamic pointer highlights the player currently in possession of the ball, updating in real time as passes or turnovers occur. This enriched video layer, paired with the tactical board, delivers a comprehensive and intuitive interface for match analysis, blending clarity with contextual depth.</a:t>
            </a:r>
            <a:endParaRPr sz="800"/>
          </a:p>
        </p:txBody>
      </p:sp>
      <p:sp>
        <p:nvSpPr>
          <p:cNvPr id="294" name="Google Shape;294;p34"/>
          <p:cNvSpPr txBox="1"/>
          <p:nvPr/>
        </p:nvSpPr>
        <p:spPr>
          <a:xfrm>
            <a:off x="654261" y="594298"/>
            <a:ext cx="14397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GB" sz="1000">
                <a:solidFill>
                  <a:srgbClr val="FFFFFF"/>
                </a:solidFill>
                <a:latin typeface="Helvetica Neue"/>
                <a:ea typeface="Helvetica Neue"/>
                <a:cs typeface="Helvetica Neue"/>
                <a:sym typeface="Helvetica Neue"/>
              </a:rPr>
              <a:t>Ellipses Overlays </a:t>
            </a:r>
            <a:endParaRPr sz="1000"/>
          </a:p>
        </p:txBody>
      </p:sp>
      <p:sp>
        <p:nvSpPr>
          <p:cNvPr id="295" name="Google Shape;295;p34"/>
          <p:cNvSpPr txBox="1"/>
          <p:nvPr/>
        </p:nvSpPr>
        <p:spPr>
          <a:xfrm>
            <a:off x="637450" y="874350"/>
            <a:ext cx="14397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Font typeface="Arial"/>
              <a:buNone/>
            </a:pPr>
            <a:r>
              <a:rPr lang="en-GB" sz="800">
                <a:solidFill>
                  <a:schemeClr val="lt1"/>
                </a:solidFill>
                <a:latin typeface="Helvetica Neue"/>
                <a:ea typeface="Helvetica Neue"/>
                <a:cs typeface="Helvetica Neue"/>
                <a:sym typeface="Helvetica Neue"/>
              </a:rPr>
              <a:t>Distinct shapes for players, goalkeepers, referees, and the ball enhance visual clarity in the broadcast video</a:t>
            </a:r>
            <a:endParaRPr sz="800">
              <a:solidFill>
                <a:schemeClr val="dk1"/>
              </a:solidFill>
            </a:endParaRPr>
          </a:p>
          <a:p>
            <a:pPr indent="0" lvl="0" marL="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296" name="Google Shape;296;p34"/>
          <p:cNvSpPr txBox="1"/>
          <p:nvPr/>
        </p:nvSpPr>
        <p:spPr>
          <a:xfrm>
            <a:off x="2433576" y="594300"/>
            <a:ext cx="21111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GB" sz="1100">
                <a:solidFill>
                  <a:srgbClr val="FFFFFF"/>
                </a:solidFill>
                <a:latin typeface="Helvetica Neue"/>
                <a:ea typeface="Helvetica Neue"/>
                <a:cs typeface="Helvetica Neue"/>
                <a:sym typeface="Helvetica Neue"/>
              </a:rPr>
              <a:t>Contextual Visualization</a:t>
            </a:r>
            <a:endParaRPr sz="100"/>
          </a:p>
        </p:txBody>
      </p:sp>
      <p:sp>
        <p:nvSpPr>
          <p:cNvPr id="297" name="Google Shape;297;p34"/>
          <p:cNvSpPr txBox="1"/>
          <p:nvPr/>
        </p:nvSpPr>
        <p:spPr>
          <a:xfrm>
            <a:off x="2769275" y="794400"/>
            <a:ext cx="14397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800">
                <a:solidFill>
                  <a:schemeClr val="lt1"/>
                </a:solidFill>
                <a:latin typeface="Helvetica Neue"/>
                <a:ea typeface="Helvetica Neue"/>
                <a:cs typeface="Helvetica Neue"/>
                <a:sym typeface="Helvetica Neue"/>
              </a:rPr>
              <a:t>Model predictions are directly mapped onto the real-world scene for intuitive interpretation.</a:t>
            </a:r>
            <a:endParaRPr sz="800">
              <a:solidFill>
                <a:schemeClr val="dk1"/>
              </a:solidFill>
            </a:endParaRPr>
          </a:p>
          <a:p>
            <a:pPr indent="0" lvl="0" marL="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298" name="Google Shape;298;p34"/>
          <p:cNvSpPr txBox="1"/>
          <p:nvPr/>
        </p:nvSpPr>
        <p:spPr>
          <a:xfrm>
            <a:off x="4917525" y="794400"/>
            <a:ext cx="14397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800">
                <a:solidFill>
                  <a:schemeClr val="lt1"/>
                </a:solidFill>
                <a:latin typeface="Helvetica Neue"/>
                <a:ea typeface="Helvetica Neue"/>
                <a:cs typeface="Helvetica Neue"/>
                <a:sym typeface="Helvetica Neue"/>
              </a:rPr>
              <a:t> Real-time indicator shows which team is currently in control of the ball.</a:t>
            </a:r>
            <a:endParaRPr sz="800">
              <a:solidFill>
                <a:schemeClr val="dk1"/>
              </a:solidFill>
            </a:endParaRPr>
          </a:p>
          <a:p>
            <a:pPr indent="0" lvl="0" marL="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299" name="Google Shape;299;p34"/>
          <p:cNvSpPr txBox="1"/>
          <p:nvPr/>
        </p:nvSpPr>
        <p:spPr>
          <a:xfrm>
            <a:off x="7065750" y="794400"/>
            <a:ext cx="14397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800">
                <a:solidFill>
                  <a:schemeClr val="lt1"/>
                </a:solidFill>
                <a:latin typeface="Helvetica Neue"/>
                <a:ea typeface="Helvetica Neue"/>
                <a:cs typeface="Helvetica Neue"/>
                <a:sym typeface="Helvetica Neue"/>
              </a:rPr>
              <a:t>A dynamic pointer highlights the player currently in possession, updating live with game flow.</a:t>
            </a:r>
            <a:endParaRPr sz="800">
              <a:solidFill>
                <a:schemeClr val="dk1"/>
              </a:solidFill>
            </a:endParaRPr>
          </a:p>
          <a:p>
            <a:pPr indent="0" lvl="0" marL="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300" name="Google Shape;300;p34"/>
          <p:cNvSpPr txBox="1"/>
          <p:nvPr/>
        </p:nvSpPr>
        <p:spPr>
          <a:xfrm>
            <a:off x="4917524" y="594298"/>
            <a:ext cx="14397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GB" sz="1000">
                <a:solidFill>
                  <a:srgbClr val="FFFFFF"/>
                </a:solidFill>
                <a:latin typeface="Helvetica Neue"/>
                <a:ea typeface="Helvetica Neue"/>
                <a:cs typeface="Helvetica Neue"/>
                <a:sym typeface="Helvetica Neue"/>
              </a:rPr>
              <a:t>Team Possession Display</a:t>
            </a:r>
            <a:endParaRPr sz="100"/>
          </a:p>
        </p:txBody>
      </p:sp>
      <p:sp>
        <p:nvSpPr>
          <p:cNvPr id="301" name="Google Shape;301;p34"/>
          <p:cNvSpPr txBox="1"/>
          <p:nvPr/>
        </p:nvSpPr>
        <p:spPr>
          <a:xfrm>
            <a:off x="7065724" y="594298"/>
            <a:ext cx="14397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GB" sz="1100">
                <a:solidFill>
                  <a:srgbClr val="FFFFFF"/>
                </a:solidFill>
                <a:latin typeface="Helvetica Neue"/>
                <a:ea typeface="Helvetica Neue"/>
                <a:cs typeface="Helvetica Neue"/>
                <a:sym typeface="Helvetica Neue"/>
              </a:rPr>
              <a:t>Ball Possessor Pointer</a:t>
            </a:r>
            <a:endParaRPr sz="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5"/>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19"/>
            </a:stretch>
          </a:blipFill>
          <a:ln>
            <a:noFill/>
          </a:ln>
        </p:spPr>
      </p:sp>
      <p:sp>
        <p:nvSpPr>
          <p:cNvPr id="307" name="Google Shape;307;p35"/>
          <p:cNvSpPr txBox="1"/>
          <p:nvPr/>
        </p:nvSpPr>
        <p:spPr>
          <a:xfrm>
            <a:off x="258650" y="2957675"/>
            <a:ext cx="4884900" cy="1205100"/>
          </a:xfrm>
          <a:prstGeom prst="rect">
            <a:avLst/>
          </a:prstGeom>
          <a:noFill/>
          <a:ln>
            <a:noFill/>
          </a:ln>
        </p:spPr>
        <p:txBody>
          <a:bodyPr anchorCtr="0" anchor="t" bIns="0" lIns="0" spcFirstLastPara="1" rIns="0" wrap="square" tIns="0">
            <a:spAutoFit/>
          </a:bodyPr>
          <a:lstStyle/>
          <a:p>
            <a:pPr indent="0" lvl="0" marL="0" marR="0" rtl="0" algn="l">
              <a:lnSpc>
                <a:spcPct val="86997"/>
              </a:lnSpc>
              <a:spcBef>
                <a:spcPts val="0"/>
              </a:spcBef>
              <a:spcAft>
                <a:spcPts val="0"/>
              </a:spcAft>
              <a:buNone/>
            </a:pPr>
            <a:r>
              <a:rPr lang="en-GB" sz="3000">
                <a:solidFill>
                  <a:srgbClr val="FFFFFF"/>
                </a:solidFill>
              </a:rPr>
              <a:t>LIMITATIONS AND FUTURE IMPROVEMENTS</a:t>
            </a:r>
            <a:endParaRPr sz="3000">
              <a:solidFill>
                <a:srgbClr val="FFFFFF"/>
              </a:solidFill>
            </a:endParaRPr>
          </a:p>
          <a:p>
            <a:pPr indent="0" lvl="0" marL="0" marR="0" rtl="0" algn="l">
              <a:lnSpc>
                <a:spcPct val="86997"/>
              </a:lnSpc>
              <a:spcBef>
                <a:spcPts val="0"/>
              </a:spcBef>
              <a:spcAft>
                <a:spcPts val="0"/>
              </a:spcAft>
              <a:buNone/>
            </a:pPr>
            <a:r>
              <a:t/>
            </a:r>
            <a:endParaRPr sz="3000">
              <a:solidFill>
                <a:srgbClr val="FFFFFF"/>
              </a:solidFill>
            </a:endParaRPr>
          </a:p>
        </p:txBody>
      </p:sp>
      <p:sp>
        <p:nvSpPr>
          <p:cNvPr id="308" name="Google Shape;308;p35"/>
          <p:cNvSpPr txBox="1"/>
          <p:nvPr/>
        </p:nvSpPr>
        <p:spPr>
          <a:xfrm>
            <a:off x="514350" y="4296159"/>
            <a:ext cx="11484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GB" sz="1300" u="none" cap="none" strike="noStrike">
                <a:solidFill>
                  <a:srgbClr val="FFFFFF"/>
                </a:solidFill>
                <a:latin typeface="Helvetica Neue"/>
                <a:ea typeface="Helvetica Neue"/>
                <a:cs typeface="Helvetica Neue"/>
                <a:sym typeface="Helvetica Neue"/>
              </a:rPr>
              <a:t>The World’s Favorite Sport</a:t>
            </a:r>
            <a:endParaRPr sz="700"/>
          </a:p>
        </p:txBody>
      </p:sp>
      <p:sp>
        <p:nvSpPr>
          <p:cNvPr id="309" name="Google Shape;309;p35"/>
          <p:cNvSpPr txBox="1"/>
          <p:nvPr/>
        </p:nvSpPr>
        <p:spPr>
          <a:xfrm>
            <a:off x="7959482" y="4513583"/>
            <a:ext cx="670200" cy="1077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0" i="0" lang="en-GB" sz="700" u="none" cap="none" strike="noStrike">
                <a:solidFill>
                  <a:srgbClr val="FFFFFF"/>
                </a:solidFill>
                <a:latin typeface="Helvetica Neue"/>
                <a:ea typeface="Helvetica Neue"/>
                <a:cs typeface="Helvetica Neue"/>
                <a:sym typeface="Helvetica Neue"/>
              </a:rPr>
              <a:t>Liceria &amp; Co.</a:t>
            </a:r>
            <a:endParaRPr sz="700"/>
          </a:p>
        </p:txBody>
      </p:sp>
      <p:sp>
        <p:nvSpPr>
          <p:cNvPr id="310" name="Google Shape;310;p35"/>
          <p:cNvSpPr/>
          <p:nvPr/>
        </p:nvSpPr>
        <p:spPr>
          <a:xfrm>
            <a:off x="8525571" y="4523773"/>
            <a:ext cx="104079" cy="104079"/>
          </a:xfrm>
          <a:custGeom>
            <a:rect b="b" l="l" r="r" t="t"/>
            <a:pathLst>
              <a:path extrusionOk="0" h="208158" w="208158">
                <a:moveTo>
                  <a:pt x="0" y="0"/>
                </a:moveTo>
                <a:lnTo>
                  <a:pt x="208158" y="0"/>
                </a:lnTo>
                <a:lnTo>
                  <a:pt x="208158" y="208158"/>
                </a:lnTo>
                <a:lnTo>
                  <a:pt x="0" y="208158"/>
                </a:lnTo>
                <a:lnTo>
                  <a:pt x="0" y="0"/>
                </a:lnTo>
                <a:close/>
              </a:path>
            </a:pathLst>
          </a:custGeom>
          <a:blipFill rotWithShape="1">
            <a:blip r:embed="rId4">
              <a:alphaModFix/>
            </a:blip>
            <a:stretch>
              <a:fillRect b="0" l="0" r="0" t="0"/>
            </a:stretch>
          </a:blipFill>
          <a:ln>
            <a:noFill/>
          </a:ln>
        </p:spPr>
      </p:sp>
      <p:grpSp>
        <p:nvGrpSpPr>
          <p:cNvPr id="311" name="Google Shape;311;p35"/>
          <p:cNvGrpSpPr/>
          <p:nvPr/>
        </p:nvGrpSpPr>
        <p:grpSpPr>
          <a:xfrm>
            <a:off x="514350" y="478173"/>
            <a:ext cx="2296874" cy="2185826"/>
            <a:chOff x="0" y="-19050"/>
            <a:chExt cx="1209900" cy="990900"/>
          </a:xfrm>
        </p:grpSpPr>
        <p:sp>
          <p:nvSpPr>
            <p:cNvPr id="312" name="Google Shape;312;p35"/>
            <p:cNvSpPr/>
            <p:nvPr/>
          </p:nvSpPr>
          <p:spPr>
            <a:xfrm>
              <a:off x="0" y="0"/>
              <a:ext cx="1209758" cy="971829"/>
            </a:xfrm>
            <a:custGeom>
              <a:rect b="b" l="l" r="r" t="t"/>
              <a:pathLst>
                <a:path extrusionOk="0" h="971829" w="1209758">
                  <a:moveTo>
                    <a:pt x="0" y="0"/>
                  </a:moveTo>
                  <a:lnTo>
                    <a:pt x="1209758" y="0"/>
                  </a:lnTo>
                  <a:lnTo>
                    <a:pt x="1209758" y="971829"/>
                  </a:lnTo>
                  <a:lnTo>
                    <a:pt x="0" y="971829"/>
                  </a:lnTo>
                  <a:close/>
                </a:path>
              </a:pathLst>
            </a:custGeom>
            <a:solidFill>
              <a:srgbClr val="5A7354"/>
            </a:solidFill>
            <a:ln>
              <a:noFill/>
            </a:ln>
          </p:spPr>
        </p:sp>
        <p:sp>
          <p:nvSpPr>
            <p:cNvPr id="313" name="Google Shape;313;p35"/>
            <p:cNvSpPr txBox="1"/>
            <p:nvPr/>
          </p:nvSpPr>
          <p:spPr>
            <a:xfrm>
              <a:off x="0" y="-19050"/>
              <a:ext cx="1209900" cy="990900"/>
            </a:xfrm>
            <a:prstGeom prst="rect">
              <a:avLst/>
            </a:prstGeom>
            <a:noFill/>
            <a:ln>
              <a:noFill/>
            </a:ln>
          </p:spPr>
          <p:txBody>
            <a:bodyPr anchorCtr="0" anchor="ctr" bIns="25400" lIns="25400" spcFirstLastPara="1" rIns="25400" wrap="square" tIns="25400">
              <a:noAutofit/>
            </a:bodyPr>
            <a:lstStyle/>
            <a:p>
              <a:pPr indent="0" lvl="0" marL="0" marR="0" rtl="0" algn="ctr">
                <a:lnSpc>
                  <a:spcPct val="1011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14" name="Google Shape;314;p35"/>
          <p:cNvSpPr txBox="1"/>
          <p:nvPr/>
        </p:nvSpPr>
        <p:spPr>
          <a:xfrm>
            <a:off x="842276" y="1208375"/>
            <a:ext cx="1566000" cy="12282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lang="en-GB" sz="700">
                <a:solidFill>
                  <a:srgbClr val="FFFFFF"/>
                </a:solidFill>
                <a:latin typeface="Helvetica Neue"/>
                <a:ea typeface="Helvetica Neue"/>
                <a:cs typeface="Helvetica Neue"/>
                <a:sym typeface="Helvetica Neue"/>
              </a:rPr>
              <a:t>While the system performs reliably, several enhancements could further improve accuracy and insight. Larger and more diverse datasets could be explored to improve generalization, and training the models for longer periods may yield better detection stability across challenging conditions.</a:t>
            </a:r>
            <a:endParaRPr sz="700">
              <a:solidFill>
                <a:srgbClr val="FFFFFF"/>
              </a:solidFill>
              <a:latin typeface="Helvetica Neue"/>
              <a:ea typeface="Helvetica Neue"/>
              <a:cs typeface="Helvetica Neue"/>
              <a:sym typeface="Helvetica Neue"/>
            </a:endParaRPr>
          </a:p>
          <a:p>
            <a:pPr indent="0" lvl="0" marL="0" marR="0" rtl="0" algn="just">
              <a:lnSpc>
                <a:spcPct val="130000"/>
              </a:lnSpc>
              <a:spcBef>
                <a:spcPts val="0"/>
              </a:spcBef>
              <a:spcAft>
                <a:spcPts val="0"/>
              </a:spcAft>
              <a:buNone/>
            </a:pPr>
            <a:r>
              <a:t/>
            </a:r>
            <a:endParaRPr sz="700">
              <a:solidFill>
                <a:srgbClr val="FFFFFF"/>
              </a:solidFill>
              <a:latin typeface="Helvetica Neue"/>
              <a:ea typeface="Helvetica Neue"/>
              <a:cs typeface="Helvetica Neue"/>
              <a:sym typeface="Helvetica Neue"/>
            </a:endParaRPr>
          </a:p>
        </p:txBody>
      </p:sp>
      <p:sp>
        <p:nvSpPr>
          <p:cNvPr id="315" name="Google Shape;315;p35"/>
          <p:cNvSpPr txBox="1"/>
          <p:nvPr/>
        </p:nvSpPr>
        <p:spPr>
          <a:xfrm>
            <a:off x="841938" y="716275"/>
            <a:ext cx="16224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sz="1300">
                <a:solidFill>
                  <a:srgbClr val="FFFFFF"/>
                </a:solidFill>
                <a:latin typeface="Helvetica Neue"/>
                <a:ea typeface="Helvetica Neue"/>
                <a:cs typeface="Helvetica Neue"/>
                <a:sym typeface="Helvetica Neue"/>
              </a:rPr>
              <a:t>HYPERPARAMETER TUNING</a:t>
            </a:r>
            <a:endParaRPr sz="700"/>
          </a:p>
        </p:txBody>
      </p:sp>
      <p:grpSp>
        <p:nvGrpSpPr>
          <p:cNvPr id="316" name="Google Shape;316;p35"/>
          <p:cNvGrpSpPr/>
          <p:nvPr/>
        </p:nvGrpSpPr>
        <p:grpSpPr>
          <a:xfrm>
            <a:off x="3423675" y="478173"/>
            <a:ext cx="2296874" cy="2185826"/>
            <a:chOff x="0" y="-19050"/>
            <a:chExt cx="1209900" cy="990900"/>
          </a:xfrm>
        </p:grpSpPr>
        <p:sp>
          <p:nvSpPr>
            <p:cNvPr id="317" name="Google Shape;317;p35"/>
            <p:cNvSpPr/>
            <p:nvPr/>
          </p:nvSpPr>
          <p:spPr>
            <a:xfrm>
              <a:off x="0" y="0"/>
              <a:ext cx="1209758" cy="971829"/>
            </a:xfrm>
            <a:custGeom>
              <a:rect b="b" l="l" r="r" t="t"/>
              <a:pathLst>
                <a:path extrusionOk="0" h="971829" w="1209758">
                  <a:moveTo>
                    <a:pt x="0" y="0"/>
                  </a:moveTo>
                  <a:lnTo>
                    <a:pt x="1209758" y="0"/>
                  </a:lnTo>
                  <a:lnTo>
                    <a:pt x="1209758" y="971829"/>
                  </a:lnTo>
                  <a:lnTo>
                    <a:pt x="0" y="971829"/>
                  </a:lnTo>
                  <a:close/>
                </a:path>
              </a:pathLst>
            </a:custGeom>
            <a:solidFill>
              <a:srgbClr val="5A7354"/>
            </a:solidFill>
            <a:ln>
              <a:noFill/>
            </a:ln>
          </p:spPr>
        </p:sp>
        <p:sp>
          <p:nvSpPr>
            <p:cNvPr id="318" name="Google Shape;318;p35"/>
            <p:cNvSpPr txBox="1"/>
            <p:nvPr/>
          </p:nvSpPr>
          <p:spPr>
            <a:xfrm>
              <a:off x="0" y="-19050"/>
              <a:ext cx="1209900" cy="990900"/>
            </a:xfrm>
            <a:prstGeom prst="rect">
              <a:avLst/>
            </a:prstGeom>
            <a:noFill/>
            <a:ln>
              <a:noFill/>
            </a:ln>
          </p:spPr>
          <p:txBody>
            <a:bodyPr anchorCtr="0" anchor="ctr" bIns="25400" lIns="25400" spcFirstLastPara="1" rIns="25400" wrap="square" tIns="25400">
              <a:noAutofit/>
            </a:bodyPr>
            <a:lstStyle/>
            <a:p>
              <a:pPr indent="0" lvl="0" marL="0" marR="0" rtl="0" algn="ctr">
                <a:lnSpc>
                  <a:spcPct val="1011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319" name="Google Shape;319;p35"/>
          <p:cNvGrpSpPr/>
          <p:nvPr/>
        </p:nvGrpSpPr>
        <p:grpSpPr>
          <a:xfrm>
            <a:off x="6333000" y="478173"/>
            <a:ext cx="2296874" cy="2185826"/>
            <a:chOff x="0" y="-19050"/>
            <a:chExt cx="1209900" cy="990900"/>
          </a:xfrm>
        </p:grpSpPr>
        <p:sp>
          <p:nvSpPr>
            <p:cNvPr id="320" name="Google Shape;320;p35"/>
            <p:cNvSpPr/>
            <p:nvPr/>
          </p:nvSpPr>
          <p:spPr>
            <a:xfrm>
              <a:off x="0" y="0"/>
              <a:ext cx="1209758" cy="971829"/>
            </a:xfrm>
            <a:custGeom>
              <a:rect b="b" l="l" r="r" t="t"/>
              <a:pathLst>
                <a:path extrusionOk="0" h="971829" w="1209758">
                  <a:moveTo>
                    <a:pt x="0" y="0"/>
                  </a:moveTo>
                  <a:lnTo>
                    <a:pt x="1209758" y="0"/>
                  </a:lnTo>
                  <a:lnTo>
                    <a:pt x="1209758" y="971829"/>
                  </a:lnTo>
                  <a:lnTo>
                    <a:pt x="0" y="971829"/>
                  </a:lnTo>
                  <a:close/>
                </a:path>
              </a:pathLst>
            </a:custGeom>
            <a:solidFill>
              <a:srgbClr val="5A7354"/>
            </a:solidFill>
            <a:ln>
              <a:noFill/>
            </a:ln>
          </p:spPr>
        </p:sp>
        <p:sp>
          <p:nvSpPr>
            <p:cNvPr id="321" name="Google Shape;321;p35"/>
            <p:cNvSpPr txBox="1"/>
            <p:nvPr/>
          </p:nvSpPr>
          <p:spPr>
            <a:xfrm>
              <a:off x="0" y="-19050"/>
              <a:ext cx="1209900" cy="990900"/>
            </a:xfrm>
            <a:prstGeom prst="rect">
              <a:avLst/>
            </a:prstGeom>
            <a:noFill/>
            <a:ln>
              <a:noFill/>
            </a:ln>
          </p:spPr>
          <p:txBody>
            <a:bodyPr anchorCtr="0" anchor="ctr" bIns="25400" lIns="25400" spcFirstLastPara="1" rIns="25400" wrap="square" tIns="25400">
              <a:noAutofit/>
            </a:bodyPr>
            <a:lstStyle/>
            <a:p>
              <a:pPr indent="0" lvl="0" marL="0" marR="0" rtl="0" algn="ctr">
                <a:lnSpc>
                  <a:spcPct val="1011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22" name="Google Shape;322;p35"/>
          <p:cNvSpPr txBox="1"/>
          <p:nvPr/>
        </p:nvSpPr>
        <p:spPr>
          <a:xfrm>
            <a:off x="3760975" y="1278425"/>
            <a:ext cx="1566000" cy="1088100"/>
          </a:xfrm>
          <a:prstGeom prst="rect">
            <a:avLst/>
          </a:prstGeom>
          <a:noFill/>
          <a:ln>
            <a:noFill/>
          </a:ln>
        </p:spPr>
        <p:txBody>
          <a:bodyPr anchorCtr="0" anchor="t" bIns="0" lIns="0" spcFirstLastPara="1" rIns="0" wrap="square" tIns="0">
            <a:spAutoFit/>
          </a:bodyPr>
          <a:lstStyle/>
          <a:p>
            <a:pPr indent="0" lvl="0" marL="0" rtl="0" algn="just">
              <a:lnSpc>
                <a:spcPct val="130000"/>
              </a:lnSpc>
              <a:spcBef>
                <a:spcPts val="0"/>
              </a:spcBef>
              <a:spcAft>
                <a:spcPts val="0"/>
              </a:spcAft>
              <a:buClr>
                <a:schemeClr val="dk1"/>
              </a:buClr>
              <a:buFont typeface="Arial"/>
              <a:buNone/>
            </a:pPr>
            <a:r>
              <a:rPr lang="en-GB" sz="700">
                <a:solidFill>
                  <a:schemeClr val="lt1"/>
                </a:solidFill>
                <a:latin typeface="Helvetica Neue"/>
                <a:ea typeface="Helvetica Neue"/>
                <a:cs typeface="Helvetica Neue"/>
                <a:sym typeface="Helvetica Neue"/>
              </a:rPr>
              <a:t>Functionally, we plan to add dynamic metrics such as each player’s total distance traveled and real-time speed, providing deeper performance analysis. Additionally, visualizing the full path of the ball on the 2D pitch would enhance tactical understanding.</a:t>
            </a:r>
            <a:endParaRPr sz="700">
              <a:solidFill>
                <a:schemeClr val="lt1"/>
              </a:solidFill>
              <a:latin typeface="Helvetica Neue"/>
              <a:ea typeface="Helvetica Neue"/>
              <a:cs typeface="Helvetica Neue"/>
              <a:sym typeface="Helvetica Neue"/>
            </a:endParaRPr>
          </a:p>
          <a:p>
            <a:pPr indent="0" lvl="0" marL="0" marR="0" rtl="0" algn="just">
              <a:lnSpc>
                <a:spcPct val="130000"/>
              </a:lnSpc>
              <a:spcBef>
                <a:spcPts val="0"/>
              </a:spcBef>
              <a:spcAft>
                <a:spcPts val="0"/>
              </a:spcAft>
              <a:buNone/>
            </a:pPr>
            <a:r>
              <a:t/>
            </a:r>
            <a:endParaRPr sz="700">
              <a:solidFill>
                <a:srgbClr val="FFFFFF"/>
              </a:solidFill>
              <a:latin typeface="Helvetica Neue"/>
              <a:ea typeface="Helvetica Neue"/>
              <a:cs typeface="Helvetica Neue"/>
              <a:sym typeface="Helvetica Neue"/>
            </a:endParaRPr>
          </a:p>
        </p:txBody>
      </p:sp>
      <p:sp>
        <p:nvSpPr>
          <p:cNvPr id="323" name="Google Shape;323;p35"/>
          <p:cNvSpPr txBox="1"/>
          <p:nvPr/>
        </p:nvSpPr>
        <p:spPr>
          <a:xfrm>
            <a:off x="3760976" y="816325"/>
            <a:ext cx="15660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sz="1300">
                <a:solidFill>
                  <a:srgbClr val="FFFFFF"/>
                </a:solidFill>
                <a:latin typeface="Helvetica Neue"/>
                <a:ea typeface="Helvetica Neue"/>
                <a:cs typeface="Helvetica Neue"/>
                <a:sym typeface="Helvetica Neue"/>
              </a:rPr>
              <a:t>DYNAMIC METRICS</a:t>
            </a:r>
            <a:endParaRPr sz="700"/>
          </a:p>
        </p:txBody>
      </p:sp>
      <p:sp>
        <p:nvSpPr>
          <p:cNvPr id="324" name="Google Shape;324;p35"/>
          <p:cNvSpPr txBox="1"/>
          <p:nvPr/>
        </p:nvSpPr>
        <p:spPr>
          <a:xfrm>
            <a:off x="6735955" y="1278415"/>
            <a:ext cx="1509900" cy="1088100"/>
          </a:xfrm>
          <a:prstGeom prst="rect">
            <a:avLst/>
          </a:prstGeom>
          <a:noFill/>
          <a:ln>
            <a:noFill/>
          </a:ln>
        </p:spPr>
        <p:txBody>
          <a:bodyPr anchorCtr="0" anchor="t" bIns="0" lIns="0" spcFirstLastPara="1" rIns="0" wrap="square" tIns="0">
            <a:spAutoFit/>
          </a:bodyPr>
          <a:lstStyle/>
          <a:p>
            <a:pPr indent="0" lvl="0" marL="0" rtl="0" algn="just">
              <a:lnSpc>
                <a:spcPct val="130000"/>
              </a:lnSpc>
              <a:spcBef>
                <a:spcPts val="0"/>
              </a:spcBef>
              <a:spcAft>
                <a:spcPts val="0"/>
              </a:spcAft>
              <a:buClr>
                <a:schemeClr val="dk1"/>
              </a:buClr>
              <a:buFont typeface="Arial"/>
              <a:buNone/>
            </a:pPr>
            <a:r>
              <a:rPr lang="en-GB" sz="700">
                <a:solidFill>
                  <a:schemeClr val="lt1"/>
                </a:solidFill>
                <a:latin typeface="Helvetica Neue"/>
                <a:ea typeface="Helvetica Neue"/>
                <a:cs typeface="Helvetica Neue"/>
                <a:sym typeface="Helvetica Neue"/>
              </a:rPr>
              <a:t>Although the system is already time-efficient, the pitch keypoint model currently runs via Roboflow’s API. Hosting it locally could significantly reduce inference latency and improve end-to-end processing speed.</a:t>
            </a:r>
            <a:endParaRPr sz="700">
              <a:solidFill>
                <a:schemeClr val="lt1"/>
              </a:solidFill>
              <a:latin typeface="Helvetica Neue"/>
              <a:ea typeface="Helvetica Neue"/>
              <a:cs typeface="Helvetica Neue"/>
              <a:sym typeface="Helvetica Neue"/>
            </a:endParaRPr>
          </a:p>
          <a:p>
            <a:pPr indent="0" lvl="0" marL="0" marR="0" rtl="0" algn="just">
              <a:lnSpc>
                <a:spcPct val="130000"/>
              </a:lnSpc>
              <a:spcBef>
                <a:spcPts val="0"/>
              </a:spcBef>
              <a:spcAft>
                <a:spcPts val="0"/>
              </a:spcAft>
              <a:buNone/>
            </a:pPr>
            <a:r>
              <a:t/>
            </a:r>
            <a:endParaRPr sz="700">
              <a:solidFill>
                <a:srgbClr val="FFFFFF"/>
              </a:solidFill>
              <a:latin typeface="Helvetica Neue"/>
              <a:ea typeface="Helvetica Neue"/>
              <a:cs typeface="Helvetica Neue"/>
              <a:sym typeface="Helvetica Neue"/>
            </a:endParaRPr>
          </a:p>
        </p:txBody>
      </p:sp>
      <p:sp>
        <p:nvSpPr>
          <p:cNvPr id="325" name="Google Shape;325;p35"/>
          <p:cNvSpPr txBox="1"/>
          <p:nvPr/>
        </p:nvSpPr>
        <p:spPr>
          <a:xfrm>
            <a:off x="6735955" y="818550"/>
            <a:ext cx="15099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sz="1300">
                <a:solidFill>
                  <a:srgbClr val="FFFFFF"/>
                </a:solidFill>
                <a:latin typeface="Helvetica Neue"/>
                <a:ea typeface="Helvetica Neue"/>
                <a:cs typeface="Helvetica Neue"/>
                <a:sym typeface="Helvetica Neue"/>
              </a:rPr>
              <a:t>LOCAL TRAINED PITCH MODEL</a:t>
            </a:r>
            <a:endParaRPr sz="700"/>
          </a:p>
        </p:txBody>
      </p:sp>
      <p:grpSp>
        <p:nvGrpSpPr>
          <p:cNvPr id="326" name="Google Shape;326;p35"/>
          <p:cNvGrpSpPr/>
          <p:nvPr/>
        </p:nvGrpSpPr>
        <p:grpSpPr>
          <a:xfrm>
            <a:off x="5143557" y="2527331"/>
            <a:ext cx="2909336" cy="2909336"/>
            <a:chOff x="0" y="0"/>
            <a:chExt cx="812800" cy="812800"/>
          </a:xfrm>
        </p:grpSpPr>
        <p:sp>
          <p:nvSpPr>
            <p:cNvPr id="327" name="Google Shape;327;p3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
              <a:solidFill>
                <a:srgbClr val="FFFFFF"/>
              </a:solidFill>
              <a:prstDash val="solid"/>
              <a:miter lim="8000"/>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28" name="Google Shape;328;p35"/>
            <p:cNvSpPr txBox="1"/>
            <p:nvPr/>
          </p:nvSpPr>
          <p:spPr>
            <a:xfrm>
              <a:off x="76200" y="57150"/>
              <a:ext cx="660300" cy="679500"/>
            </a:xfrm>
            <a:prstGeom prst="rect">
              <a:avLst/>
            </a:prstGeom>
            <a:noFill/>
            <a:ln>
              <a:noFill/>
            </a:ln>
          </p:spPr>
          <p:txBody>
            <a:bodyPr anchorCtr="0" anchor="ctr" bIns="25400" lIns="25400" spcFirstLastPara="1" rIns="25400" wrap="square" tIns="25400">
              <a:noAutofit/>
            </a:bodyPr>
            <a:lstStyle/>
            <a:p>
              <a:pPr indent="0" lvl="0" marL="0" marR="0" rtl="0" algn="ctr">
                <a:lnSpc>
                  <a:spcPct val="1011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cxnSp>
        <p:nvCxnSpPr>
          <p:cNvPr id="329" name="Google Shape;329;p35"/>
          <p:cNvCxnSpPr/>
          <p:nvPr/>
        </p:nvCxnSpPr>
        <p:spPr>
          <a:xfrm flipH="1" rot="10800000">
            <a:off x="3302875" y="2957684"/>
            <a:ext cx="5720400" cy="2185800"/>
          </a:xfrm>
          <a:prstGeom prst="straightConnector1">
            <a:avLst/>
          </a:prstGeom>
          <a:noFill/>
          <a:ln cap="flat" cmpd="sng" w="9525">
            <a:solidFill>
              <a:srgbClr val="FFFFFF"/>
            </a:solidFill>
            <a:prstDash val="solid"/>
            <a:round/>
            <a:headEnd len="sm" w="sm" type="none"/>
            <a:tailEnd len="sm" w="sm" type="none"/>
          </a:ln>
        </p:spPr>
      </p:cxnSp>
      <p:sp>
        <p:nvSpPr>
          <p:cNvPr id="330" name="Google Shape;330;p35"/>
          <p:cNvSpPr/>
          <p:nvPr/>
        </p:nvSpPr>
        <p:spPr>
          <a:xfrm>
            <a:off x="3391789" y="4272347"/>
            <a:ext cx="425284" cy="425284"/>
          </a:xfrm>
          <a:custGeom>
            <a:rect b="b" l="l" r="r" t="t"/>
            <a:pathLst>
              <a:path extrusionOk="0" h="850568" w="850568">
                <a:moveTo>
                  <a:pt x="0" y="0"/>
                </a:moveTo>
                <a:lnTo>
                  <a:pt x="850567" y="0"/>
                </a:lnTo>
                <a:lnTo>
                  <a:pt x="850567" y="850568"/>
                </a:lnTo>
                <a:lnTo>
                  <a:pt x="0" y="850568"/>
                </a:lnTo>
                <a:lnTo>
                  <a:pt x="0" y="0"/>
                </a:lnTo>
                <a:close/>
              </a:path>
            </a:pathLst>
          </a:custGeom>
          <a:blipFill rotWithShape="1">
            <a:blip r:embed="rId5">
              <a:alphaModFix/>
            </a:blip>
            <a:stretch>
              <a:fillRect b="0" l="0" r="0" t="0"/>
            </a:stretch>
          </a:blipFill>
          <a:ln>
            <a:noFill/>
          </a:ln>
        </p:spPr>
      </p:sp>
      <p:pic>
        <p:nvPicPr>
          <p:cNvPr id="331" name="Google Shape;331;p35" title="Screenshot from 2025-05-19 17-12-04.png"/>
          <p:cNvPicPr preferRelativeResize="0"/>
          <p:nvPr/>
        </p:nvPicPr>
        <p:blipFill rotWithShape="1">
          <a:blip r:embed="rId6">
            <a:alphaModFix/>
          </a:blip>
          <a:srcRect b="0" l="35995" r="4614" t="0"/>
          <a:stretch/>
        </p:blipFill>
        <p:spPr>
          <a:xfrm>
            <a:off x="5364175" y="2789648"/>
            <a:ext cx="2468100" cy="2384700"/>
          </a:xfrm>
          <a:prstGeom prst="ellipse">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6"/>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20"/>
            </a:stretch>
          </a:blipFill>
          <a:ln>
            <a:noFill/>
          </a:ln>
        </p:spPr>
      </p:sp>
      <p:grpSp>
        <p:nvGrpSpPr>
          <p:cNvPr id="337" name="Google Shape;337;p36"/>
          <p:cNvGrpSpPr/>
          <p:nvPr/>
        </p:nvGrpSpPr>
        <p:grpSpPr>
          <a:xfrm>
            <a:off x="2934769" y="934519"/>
            <a:ext cx="3274462" cy="3274462"/>
            <a:chOff x="0" y="0"/>
            <a:chExt cx="812800" cy="812800"/>
          </a:xfrm>
        </p:grpSpPr>
        <p:sp>
          <p:nvSpPr>
            <p:cNvPr id="338" name="Google Shape;338;p3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
              <a:solidFill>
                <a:srgbClr val="FFFFFF"/>
              </a:solidFill>
              <a:prstDash val="solid"/>
              <a:miter lim="8000"/>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39" name="Google Shape;339;p36"/>
            <p:cNvSpPr txBox="1"/>
            <p:nvPr/>
          </p:nvSpPr>
          <p:spPr>
            <a:xfrm>
              <a:off x="76200" y="57150"/>
              <a:ext cx="660400" cy="679450"/>
            </a:xfrm>
            <a:prstGeom prst="rect">
              <a:avLst/>
            </a:prstGeom>
            <a:noFill/>
            <a:ln>
              <a:noFill/>
            </a:ln>
          </p:spPr>
          <p:txBody>
            <a:bodyPr anchorCtr="0" anchor="ctr" bIns="25400" lIns="25400" spcFirstLastPara="1" rIns="25400" wrap="square" tIns="25400">
              <a:noAutofit/>
            </a:bodyPr>
            <a:lstStyle/>
            <a:p>
              <a:pPr indent="0" lvl="0" marL="0" marR="0" rtl="0" algn="ctr">
                <a:lnSpc>
                  <a:spcPct val="1011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40" name="Google Shape;340;p36"/>
          <p:cNvSpPr txBox="1"/>
          <p:nvPr/>
        </p:nvSpPr>
        <p:spPr>
          <a:xfrm>
            <a:off x="7959482" y="504193"/>
            <a:ext cx="670168" cy="114902"/>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0" i="0" lang="en-GB" sz="700" u="none" cap="none" strike="noStrike">
                <a:solidFill>
                  <a:srgbClr val="FFFFFF"/>
                </a:solidFill>
                <a:latin typeface="Helvetica Neue"/>
                <a:ea typeface="Helvetica Neue"/>
                <a:cs typeface="Helvetica Neue"/>
                <a:sym typeface="Helvetica Neue"/>
              </a:rPr>
              <a:t>Liceria &amp; Co.</a:t>
            </a:r>
            <a:endParaRPr sz="700"/>
          </a:p>
        </p:txBody>
      </p:sp>
      <p:sp>
        <p:nvSpPr>
          <p:cNvPr id="341" name="Google Shape;341;p36"/>
          <p:cNvSpPr/>
          <p:nvPr/>
        </p:nvSpPr>
        <p:spPr>
          <a:xfrm>
            <a:off x="8525571" y="514383"/>
            <a:ext cx="104079" cy="104079"/>
          </a:xfrm>
          <a:custGeom>
            <a:rect b="b" l="l" r="r" t="t"/>
            <a:pathLst>
              <a:path extrusionOk="0" h="208158" w="208158">
                <a:moveTo>
                  <a:pt x="0" y="0"/>
                </a:moveTo>
                <a:lnTo>
                  <a:pt x="208158" y="0"/>
                </a:lnTo>
                <a:lnTo>
                  <a:pt x="208158" y="208158"/>
                </a:lnTo>
                <a:lnTo>
                  <a:pt x="0" y="208158"/>
                </a:lnTo>
                <a:lnTo>
                  <a:pt x="0" y="0"/>
                </a:lnTo>
                <a:close/>
              </a:path>
            </a:pathLst>
          </a:custGeom>
          <a:blipFill rotWithShape="1">
            <a:blip r:embed="rId4">
              <a:alphaModFix/>
            </a:blip>
            <a:stretch>
              <a:fillRect b="0" l="0" r="0" t="0"/>
            </a:stretch>
          </a:blipFill>
          <a:ln>
            <a:noFill/>
          </a:ln>
        </p:spPr>
      </p:sp>
      <p:cxnSp>
        <p:nvCxnSpPr>
          <p:cNvPr id="342" name="Google Shape;342;p36"/>
          <p:cNvCxnSpPr/>
          <p:nvPr/>
        </p:nvCxnSpPr>
        <p:spPr>
          <a:xfrm flipH="1" rot="10800000">
            <a:off x="0" y="2571750"/>
            <a:ext cx="2934769" cy="9525"/>
          </a:xfrm>
          <a:prstGeom prst="straightConnector1">
            <a:avLst/>
          </a:prstGeom>
          <a:noFill/>
          <a:ln cap="flat" cmpd="sng" w="9525">
            <a:solidFill>
              <a:srgbClr val="FFFFFF"/>
            </a:solidFill>
            <a:prstDash val="solid"/>
            <a:round/>
            <a:headEnd len="sm" w="sm" type="none"/>
            <a:tailEnd len="sm" w="sm" type="none"/>
          </a:ln>
        </p:spPr>
      </p:cxnSp>
      <p:cxnSp>
        <p:nvCxnSpPr>
          <p:cNvPr id="343" name="Google Shape;343;p36"/>
          <p:cNvCxnSpPr/>
          <p:nvPr/>
        </p:nvCxnSpPr>
        <p:spPr>
          <a:xfrm>
            <a:off x="6208234" y="2590800"/>
            <a:ext cx="2935735" cy="9519"/>
          </a:xfrm>
          <a:prstGeom prst="straightConnector1">
            <a:avLst/>
          </a:prstGeom>
          <a:noFill/>
          <a:ln cap="flat" cmpd="sng" w="9525">
            <a:solidFill>
              <a:srgbClr val="FFFFFF"/>
            </a:solidFill>
            <a:prstDash val="solid"/>
            <a:round/>
            <a:headEnd len="sm" w="sm" type="none"/>
            <a:tailEnd len="sm" w="sm" type="none"/>
          </a:ln>
        </p:spPr>
      </p:cxnSp>
      <p:sp>
        <p:nvSpPr>
          <p:cNvPr id="344" name="Google Shape;344;p36"/>
          <p:cNvSpPr/>
          <p:nvPr/>
        </p:nvSpPr>
        <p:spPr>
          <a:xfrm>
            <a:off x="8165001" y="4164502"/>
            <a:ext cx="464649" cy="464649"/>
          </a:xfrm>
          <a:custGeom>
            <a:rect b="b" l="l" r="r" t="t"/>
            <a:pathLst>
              <a:path extrusionOk="0" h="929297" w="929297">
                <a:moveTo>
                  <a:pt x="0" y="0"/>
                </a:moveTo>
                <a:lnTo>
                  <a:pt x="929297" y="0"/>
                </a:lnTo>
                <a:lnTo>
                  <a:pt x="929297" y="929297"/>
                </a:lnTo>
                <a:lnTo>
                  <a:pt x="0" y="929297"/>
                </a:lnTo>
                <a:lnTo>
                  <a:pt x="0" y="0"/>
                </a:lnTo>
                <a:close/>
              </a:path>
            </a:pathLst>
          </a:custGeom>
          <a:blipFill rotWithShape="1">
            <a:blip r:embed="rId5">
              <a:alphaModFix/>
            </a:blip>
            <a:stretch>
              <a:fillRect b="0" l="0" r="0" t="0"/>
            </a:stretch>
          </a:blipFill>
          <a:ln>
            <a:noFill/>
          </a:ln>
        </p:spPr>
      </p:sp>
      <p:sp>
        <p:nvSpPr>
          <p:cNvPr id="345" name="Google Shape;345;p36"/>
          <p:cNvSpPr/>
          <p:nvPr/>
        </p:nvSpPr>
        <p:spPr>
          <a:xfrm>
            <a:off x="6936757" y="1725304"/>
            <a:ext cx="1692893" cy="1692893"/>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6">
              <a:alphaModFix/>
            </a:blip>
            <a:stretch>
              <a:fillRect b="0" l="-77085" r="-9286" t="-24175"/>
            </a:stretch>
          </a:blip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46" name="Google Shape;346;p36"/>
          <p:cNvSpPr txBox="1"/>
          <p:nvPr/>
        </p:nvSpPr>
        <p:spPr>
          <a:xfrm>
            <a:off x="3298026" y="2268887"/>
            <a:ext cx="2547949" cy="841770"/>
          </a:xfrm>
          <a:prstGeom prst="rect">
            <a:avLst/>
          </a:prstGeom>
          <a:noFill/>
          <a:ln>
            <a:noFill/>
          </a:ln>
        </p:spPr>
        <p:txBody>
          <a:bodyPr anchorCtr="0" anchor="t" bIns="0" lIns="0" spcFirstLastPara="1" rIns="0" wrap="square" tIns="0">
            <a:spAutoFit/>
          </a:bodyPr>
          <a:lstStyle/>
          <a:p>
            <a:pPr indent="0" lvl="0" marL="0" marR="0" rtl="0" algn="ctr">
              <a:lnSpc>
                <a:spcPct val="87004"/>
              </a:lnSpc>
              <a:spcBef>
                <a:spcPts val="0"/>
              </a:spcBef>
              <a:spcAft>
                <a:spcPts val="0"/>
              </a:spcAft>
              <a:buNone/>
            </a:pPr>
            <a:r>
              <a:rPr b="0" i="0" lang="en-GB" sz="3300" u="none" cap="none" strike="noStrike">
                <a:solidFill>
                  <a:srgbClr val="FFFFFF"/>
                </a:solidFill>
                <a:latin typeface="Arial"/>
                <a:ea typeface="Arial"/>
                <a:cs typeface="Arial"/>
                <a:sym typeface="Arial"/>
              </a:rPr>
              <a:t>THANK YOU</a:t>
            </a:r>
            <a:endParaRPr sz="700"/>
          </a:p>
        </p:txBody>
      </p:sp>
      <p:sp>
        <p:nvSpPr>
          <p:cNvPr id="347" name="Google Shape;347;p36"/>
          <p:cNvSpPr txBox="1"/>
          <p:nvPr/>
        </p:nvSpPr>
        <p:spPr>
          <a:xfrm>
            <a:off x="514350" y="997109"/>
            <a:ext cx="1834800" cy="13683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lang="en-GB" sz="700">
                <a:solidFill>
                  <a:srgbClr val="FFFFFF"/>
                </a:solidFill>
                <a:latin typeface="Helvetica Neue"/>
                <a:ea typeface="Helvetica Neue"/>
                <a:cs typeface="Helvetica Neue"/>
                <a:sym typeface="Helvetica Neue"/>
              </a:rPr>
              <a:t>The system successfully processed the full video, generating synchronized visualizations of team ball control, player movement, and tactical structure. The visual outputs were stable across frames, and the Voronoi zones reflected team shapes and positional dominance well. The ball tracking system, supported by interpolation, performed consistently even when detections were temporarily lost.</a:t>
            </a:r>
            <a:endParaRPr sz="700">
              <a:solidFill>
                <a:srgbClr val="FFFFFF"/>
              </a:solidFill>
              <a:latin typeface="Helvetica Neue"/>
              <a:ea typeface="Helvetica Neue"/>
              <a:cs typeface="Helvetica Neue"/>
              <a:sym typeface="Helvetica Neue"/>
            </a:endParaRPr>
          </a:p>
        </p:txBody>
      </p:sp>
      <p:sp>
        <p:nvSpPr>
          <p:cNvPr id="348" name="Google Shape;348;p36"/>
          <p:cNvSpPr txBox="1"/>
          <p:nvPr/>
        </p:nvSpPr>
        <p:spPr>
          <a:xfrm>
            <a:off x="514350" y="538196"/>
            <a:ext cx="21195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sz="1300">
                <a:solidFill>
                  <a:srgbClr val="FFFFFF"/>
                </a:solidFill>
                <a:latin typeface="Helvetica Neue"/>
                <a:ea typeface="Helvetica Neue"/>
                <a:cs typeface="Helvetica Neue"/>
                <a:sym typeface="Helvetica Neue"/>
              </a:rPr>
              <a:t>RESULTS</a:t>
            </a:r>
            <a:endParaRPr sz="700"/>
          </a:p>
        </p:txBody>
      </p:sp>
      <p:sp>
        <p:nvSpPr>
          <p:cNvPr id="349" name="Google Shape;349;p36"/>
          <p:cNvSpPr txBox="1"/>
          <p:nvPr/>
        </p:nvSpPr>
        <p:spPr>
          <a:xfrm>
            <a:off x="514350" y="3039234"/>
            <a:ext cx="1834800" cy="1083600"/>
          </a:xfrm>
          <a:prstGeom prst="rect">
            <a:avLst/>
          </a:prstGeom>
          <a:noFill/>
          <a:ln>
            <a:noFill/>
          </a:ln>
        </p:spPr>
        <p:txBody>
          <a:bodyPr anchorCtr="0" anchor="t" bIns="0" lIns="0" spcFirstLastPara="1" rIns="0" wrap="square" tIns="0">
            <a:spAutoFit/>
          </a:bodyPr>
          <a:lstStyle/>
          <a:p>
            <a:pPr indent="0" lvl="0" marL="0" rtl="0" algn="just">
              <a:lnSpc>
                <a:spcPct val="130000"/>
              </a:lnSpc>
              <a:spcBef>
                <a:spcPts val="0"/>
              </a:spcBef>
              <a:spcAft>
                <a:spcPts val="0"/>
              </a:spcAft>
              <a:buNone/>
            </a:pPr>
            <a:r>
              <a:rPr lang="en-GB" sz="800">
                <a:solidFill>
                  <a:schemeClr val="lt1"/>
                </a:solidFill>
                <a:latin typeface="Helvetica Neue"/>
                <a:ea typeface="Helvetica Neue"/>
                <a:cs typeface="Helvetica Neue"/>
                <a:sym typeface="Helvetica Neue"/>
              </a:rPr>
              <a:t>T</a:t>
            </a:r>
            <a:r>
              <a:rPr lang="en-GB" sz="800">
                <a:solidFill>
                  <a:schemeClr val="lt1"/>
                </a:solidFill>
                <a:latin typeface="Helvetica Neue"/>
                <a:ea typeface="Helvetica Neue"/>
                <a:cs typeface="Helvetica Neue"/>
                <a:sym typeface="Helvetica Neue"/>
              </a:rPr>
              <a:t>his project demonstrates a robust pipeline for football video analysis using detection, tracking, projection, and visualization. It achieves accurate player tracking, team assignment, ball control inference, and tactical mapping. </a:t>
            </a:r>
            <a:endParaRPr sz="800">
              <a:solidFill>
                <a:schemeClr val="lt1"/>
              </a:solidFill>
              <a:latin typeface="Helvetica Neue"/>
              <a:ea typeface="Helvetica Neue"/>
              <a:cs typeface="Helvetica Neue"/>
              <a:sym typeface="Helvetica Neue"/>
            </a:endParaRPr>
          </a:p>
          <a:p>
            <a:pPr indent="0" lvl="0" marL="0" marR="0" rtl="0" algn="just">
              <a:lnSpc>
                <a:spcPct val="130000"/>
              </a:lnSpc>
              <a:spcBef>
                <a:spcPts val="0"/>
              </a:spcBef>
              <a:spcAft>
                <a:spcPts val="0"/>
              </a:spcAft>
              <a:buNone/>
            </a:pPr>
            <a:r>
              <a:t/>
            </a:r>
            <a:endParaRPr sz="800">
              <a:solidFill>
                <a:srgbClr val="FFFFFF"/>
              </a:solidFill>
              <a:latin typeface="Helvetica Neue"/>
              <a:ea typeface="Helvetica Neue"/>
              <a:cs typeface="Helvetica Neue"/>
              <a:sym typeface="Helvetica Neue"/>
            </a:endParaRPr>
          </a:p>
        </p:txBody>
      </p:sp>
      <p:sp>
        <p:nvSpPr>
          <p:cNvPr id="350" name="Google Shape;350;p36"/>
          <p:cNvSpPr txBox="1"/>
          <p:nvPr/>
        </p:nvSpPr>
        <p:spPr>
          <a:xfrm>
            <a:off x="5486875" y="4122825"/>
            <a:ext cx="3441300" cy="5541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GB" sz="1200" u="sng">
                <a:solidFill>
                  <a:schemeClr val="hlink"/>
                </a:solidFill>
                <a:latin typeface="Calibri"/>
                <a:ea typeface="Calibri"/>
                <a:cs typeface="Calibri"/>
                <a:sym typeface="Calibri"/>
                <a:hlinkClick r:id="rId7"/>
              </a:rPr>
              <a:t>Project link</a:t>
            </a:r>
            <a:endParaRPr sz="1200">
              <a:solidFill>
                <a:schemeClr val="lt1"/>
              </a:solidFill>
              <a:latin typeface="Calibri"/>
              <a:ea typeface="Calibri"/>
              <a:cs typeface="Calibri"/>
              <a:sym typeface="Calibri"/>
            </a:endParaRPr>
          </a:p>
          <a:p>
            <a:pPr indent="0" lvl="0" marL="0" rtl="0" algn="l">
              <a:spcBef>
                <a:spcPts val="0"/>
              </a:spcBef>
              <a:spcAft>
                <a:spcPts val="0"/>
              </a:spcAft>
              <a:buNone/>
            </a:pPr>
            <a:r>
              <a:rPr lang="en-GB" sz="1200" u="sng">
                <a:solidFill>
                  <a:schemeClr val="hlink"/>
                </a:solidFill>
                <a:latin typeface="Calibri"/>
                <a:ea typeface="Calibri"/>
                <a:cs typeface="Calibri"/>
                <a:sym typeface="Calibri"/>
                <a:hlinkClick r:id="rId8"/>
              </a:rPr>
              <a:t>Player Detection Model download link</a:t>
            </a:r>
            <a:endParaRPr sz="12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